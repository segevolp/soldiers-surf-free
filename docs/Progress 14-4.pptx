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  <p:embeddedFont>
      <p:font typeface="Maven Pro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MavenPro-bold.fntdata"/><Relationship Id="rId27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722427f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722427f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5ce5374e0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5ce5374e0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5ce5374e0_0_1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d5ce5374e0_0_1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5c19388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d5c19388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5ce5374e0_0_1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d5ce5374e0_0_1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5ce5374e0_0_2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d5ce5374e0_0_2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5ce5374e0_0_3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d5ce5374e0_0_3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5ce5374e0_0_3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d5ce5374e0_0_3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d5ce5374e0_0_4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d5ce5374e0_0_4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9722581d6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9722581d6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9722581d6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9722581d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9722427f2d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9722427f2d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9722581d6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9722581d6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9722581d6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9722581d6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9722581d6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9722581d6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9722581d6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9722581d6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9722581d6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9722581d6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(g3d5feb81ce1_6_0)">
  <p:cSld name="כותרת וטקסט (g3d5feb81ce1_6_0)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" name="Google Shape;275;p1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6" name="Google Shape;276;p1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(g3d5feb81ce1_21_0)">
  <p:cSld name="כותרת וטקסט (g3d5feb81ce1_21_0)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9" name="Google Shape;279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0" name="Google Shape;280;p1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(g3d5feb81ce1_28_0)">
  <p:cSld name="כותרת וטקסט (g3d5feb81ce1_28_0)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4" name="Google Shape;284;p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(g3d5feb81ce1_35_0)">
  <p:cSld name="כותרת וטקסט (g3d5feb81ce1_35_0)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" name="Google Shape;287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8" name="Google Shape;288;p1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(g3d5feb81ce1_42_0)">
  <p:cSld name="כותרת וטקסט (g3d5feb81ce1_42_0)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" name="Google Shape;291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2" name="Google Shape;292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(g3d5feb81ce1_49_0)">
  <p:cSld name="כותרת וטקסט (g3d5feb81ce1_49_0)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5" name="Google Shape;295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6" name="Google Shape;296;p1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(g3d5feb81ce1_56_0)">
  <p:cSld name="כותרת וטקסט (g3d5feb81ce1_56_0)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9" name="Google Shape;299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0" name="Google Shape;300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Soldiers Surf Free</a:t>
            </a:r>
            <a:endParaRPr/>
          </a:p>
        </p:txBody>
      </p:sp>
      <p:pic>
        <p:nvPicPr>
          <p:cNvPr id="306" name="Google Shape;3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0"/>
          <p:cNvSpPr txBox="1"/>
          <p:nvPr>
            <p:ph idx="1" type="subTitle"/>
          </p:nvPr>
        </p:nvSpPr>
        <p:spPr>
          <a:xfrm>
            <a:off x="120650" y="4782300"/>
            <a:ext cx="56622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iw" sz="1660">
                <a:highlight>
                  <a:schemeClr val="dk2"/>
                </a:highlight>
              </a:rPr>
              <a:t>Segev Olpak, Ofek Yabo, Dolev David, Guy Yehoshua</a:t>
            </a:r>
            <a:endParaRPr b="1" sz="1660">
              <a:highlight>
                <a:schemeClr val="dk2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21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313" name="Google Shape;313;p21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5991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1"/>
            <p:cNvSpPr txBox="1"/>
            <p:nvPr/>
          </p:nvSpPr>
          <p:spPr>
            <a:xfrm>
              <a:off x="571500" y="0"/>
              <a:ext cx="800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36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Current Project Status</a:t>
              </a:r>
              <a:endParaRPr b="1" sz="36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15" name="Google Shape;315;p21"/>
          <p:cNvGrpSpPr/>
          <p:nvPr/>
        </p:nvGrpSpPr>
        <p:grpSpPr>
          <a:xfrm>
            <a:off x="571500" y="1524000"/>
            <a:ext cx="8001150" cy="2857500"/>
            <a:chOff x="571500" y="1524000"/>
            <a:chExt cx="8001150" cy="2857500"/>
          </a:xfrm>
        </p:grpSpPr>
        <p:grpSp>
          <p:nvGrpSpPr>
            <p:cNvPr id="316" name="Google Shape;316;p21"/>
            <p:cNvGrpSpPr/>
            <p:nvPr/>
          </p:nvGrpSpPr>
          <p:grpSpPr>
            <a:xfrm>
              <a:off x="571500" y="1524000"/>
              <a:ext cx="3905400" cy="1333500"/>
              <a:chOff x="571500" y="1524000"/>
              <a:chExt cx="3905400" cy="1333500"/>
            </a:xfrm>
          </p:grpSpPr>
          <p:sp>
            <p:nvSpPr>
              <p:cNvPr id="317" name="Google Shape;317;p21"/>
              <p:cNvSpPr/>
              <p:nvPr/>
            </p:nvSpPr>
            <p:spPr>
              <a:xfrm>
                <a:off x="571500" y="1524000"/>
                <a:ext cx="3905400" cy="1333500"/>
              </a:xfrm>
              <a:prstGeom prst="roundRect">
                <a:avLst>
                  <a:gd fmla="val 857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21"/>
              <p:cNvSpPr txBox="1"/>
              <p:nvPr/>
            </p:nvSpPr>
            <p:spPr>
              <a:xfrm>
                <a:off x="762000" y="170192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w" sz="2400">
                    <a:solidFill>
                      <a:srgbClr val="59919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rocket_launch</a:t>
                </a:r>
                <a:endParaRPr sz="240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19" name="Google Shape;319;p21"/>
              <p:cNvSpPr txBox="1"/>
              <p:nvPr/>
            </p:nvSpPr>
            <p:spPr>
              <a:xfrm>
                <a:off x="1238250" y="1666875"/>
                <a:ext cx="30480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w" sz="1400">
                    <a:solidFill>
                      <a:srgbClr val="1E293B"/>
                    </a:solidFill>
                    <a:latin typeface="Nunito"/>
                    <a:ea typeface="Nunito"/>
                    <a:cs typeface="Nunito"/>
                    <a:sym typeface="Nunito"/>
                  </a:rPr>
                  <a:t>Beta Readiness</a:t>
                </a:r>
                <a:endParaRPr b="1" sz="1400">
                  <a:solidFill>
                    <a:srgbClr val="1E293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iw" sz="1100">
                    <a:solidFill>
                      <a:srgbClr val="64748B"/>
                    </a:solidFill>
                    <a:latin typeface="Nunito"/>
                    <a:ea typeface="Nunito"/>
                    <a:cs typeface="Nunito"/>
                    <a:sym typeface="Nunito"/>
                  </a:rPr>
                  <a:t>Full beta version ready except donation (scanning algorithm, user management, site manager dashboard complete).</a:t>
                </a:r>
                <a:endParaRPr sz="1100">
                  <a:solidFill>
                    <a:srgbClr val="64748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320" name="Google Shape;320;p21"/>
            <p:cNvGrpSpPr/>
            <p:nvPr/>
          </p:nvGrpSpPr>
          <p:grpSpPr>
            <a:xfrm>
              <a:off x="4667250" y="1524000"/>
              <a:ext cx="3905400" cy="1333500"/>
              <a:chOff x="4667250" y="1524000"/>
              <a:chExt cx="3905400" cy="1333500"/>
            </a:xfrm>
          </p:grpSpPr>
          <p:sp>
            <p:nvSpPr>
              <p:cNvPr id="321" name="Google Shape;321;p21"/>
              <p:cNvSpPr/>
              <p:nvPr/>
            </p:nvSpPr>
            <p:spPr>
              <a:xfrm>
                <a:off x="4667250" y="1524000"/>
                <a:ext cx="3905400" cy="1333500"/>
              </a:xfrm>
              <a:prstGeom prst="roundRect">
                <a:avLst>
                  <a:gd fmla="val 857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1"/>
              <p:cNvSpPr txBox="1"/>
              <p:nvPr/>
            </p:nvSpPr>
            <p:spPr>
              <a:xfrm>
                <a:off x="4857750" y="170192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w" sz="2400">
                    <a:solidFill>
                      <a:srgbClr val="59919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architecture</a:t>
                </a:r>
                <a:endParaRPr sz="240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23" name="Google Shape;323;p21"/>
              <p:cNvSpPr txBox="1"/>
              <p:nvPr/>
            </p:nvSpPr>
            <p:spPr>
              <a:xfrm>
                <a:off x="5334000" y="1666875"/>
                <a:ext cx="30480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w" sz="1400">
                    <a:solidFill>
                      <a:srgbClr val="1E293B"/>
                    </a:solidFill>
                    <a:latin typeface="Nunito"/>
                    <a:ea typeface="Nunito"/>
                    <a:cs typeface="Nunito"/>
                    <a:sym typeface="Nunito"/>
                  </a:rPr>
                  <a:t>Code Refactor</a:t>
                </a:r>
                <a:endParaRPr b="1" sz="1400">
                  <a:solidFill>
                    <a:srgbClr val="1E293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iw" sz="1100">
                    <a:solidFill>
                      <a:srgbClr val="64748B"/>
                    </a:solidFill>
                    <a:latin typeface="Nunito"/>
                    <a:ea typeface="Nunito"/>
                    <a:cs typeface="Nunito"/>
                    <a:sym typeface="Nunito"/>
                  </a:rPr>
                  <a:t>Big refactor done and finished, ensuring a cleaner and more maintainable codebase.</a:t>
                </a:r>
                <a:endParaRPr sz="1100">
                  <a:solidFill>
                    <a:srgbClr val="64748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324" name="Google Shape;324;p21"/>
            <p:cNvGrpSpPr/>
            <p:nvPr/>
          </p:nvGrpSpPr>
          <p:grpSpPr>
            <a:xfrm>
              <a:off x="571500" y="3048000"/>
              <a:ext cx="3905400" cy="1333500"/>
              <a:chOff x="571500" y="3048000"/>
              <a:chExt cx="3905400" cy="1333500"/>
            </a:xfrm>
          </p:grpSpPr>
          <p:sp>
            <p:nvSpPr>
              <p:cNvPr id="325" name="Google Shape;325;p21"/>
              <p:cNvSpPr/>
              <p:nvPr/>
            </p:nvSpPr>
            <p:spPr>
              <a:xfrm>
                <a:off x="571500" y="3048000"/>
                <a:ext cx="3905400" cy="1333500"/>
              </a:xfrm>
              <a:prstGeom prst="roundRect">
                <a:avLst>
                  <a:gd fmla="val 857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21"/>
              <p:cNvSpPr txBox="1"/>
              <p:nvPr/>
            </p:nvSpPr>
            <p:spPr>
              <a:xfrm>
                <a:off x="762000" y="322592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w" sz="2400">
                    <a:solidFill>
                      <a:srgbClr val="59919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fact_check</a:t>
                </a:r>
                <a:endParaRPr sz="240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27" name="Google Shape;327;p21"/>
              <p:cNvSpPr txBox="1"/>
              <p:nvPr/>
            </p:nvSpPr>
            <p:spPr>
              <a:xfrm>
                <a:off x="1238250" y="3190875"/>
                <a:ext cx="30480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w" sz="1400">
                    <a:solidFill>
                      <a:srgbClr val="1E293B"/>
                    </a:solidFill>
                    <a:latin typeface="Nunito"/>
                    <a:ea typeface="Nunito"/>
                    <a:cs typeface="Nunito"/>
                    <a:sym typeface="Nunito"/>
                  </a:rPr>
                  <a:t>Testing &amp; Quality</a:t>
                </a:r>
                <a:endParaRPr b="1" sz="1400">
                  <a:solidFill>
                    <a:srgbClr val="1E293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iw" sz="1100">
                    <a:solidFill>
                      <a:srgbClr val="64748B"/>
                    </a:solidFill>
                    <a:latin typeface="Nunito"/>
                    <a:ea typeface="Nunito"/>
                    <a:cs typeface="Nunito"/>
                    <a:sym typeface="Nunito"/>
                  </a:rPr>
                  <a:t>Changed and improved the test suite to ensure robust system reliability.</a:t>
                </a:r>
                <a:endParaRPr sz="1100">
                  <a:solidFill>
                    <a:srgbClr val="64748B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328" name="Google Shape;328;p21"/>
            <p:cNvGrpSpPr/>
            <p:nvPr/>
          </p:nvGrpSpPr>
          <p:grpSpPr>
            <a:xfrm>
              <a:off x="4667250" y="3048000"/>
              <a:ext cx="3905400" cy="1333500"/>
              <a:chOff x="4667250" y="3048000"/>
              <a:chExt cx="3905400" cy="1333500"/>
            </a:xfrm>
          </p:grpSpPr>
          <p:sp>
            <p:nvSpPr>
              <p:cNvPr id="329" name="Google Shape;329;p21"/>
              <p:cNvSpPr/>
              <p:nvPr/>
            </p:nvSpPr>
            <p:spPr>
              <a:xfrm>
                <a:off x="4667250" y="3048000"/>
                <a:ext cx="3905400" cy="1333500"/>
              </a:xfrm>
              <a:prstGeom prst="roundRect">
                <a:avLst>
                  <a:gd fmla="val 8571" name="adj"/>
                </a:avLst>
              </a:prstGeom>
              <a:solidFill>
                <a:srgbClr val="599191"/>
              </a:solidFill>
              <a:ln cap="flat" cmpd="sng" w="9525">
                <a:solidFill>
                  <a:srgbClr val="59919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1"/>
              <p:cNvSpPr txBox="1"/>
              <p:nvPr/>
            </p:nvSpPr>
            <p:spPr>
              <a:xfrm>
                <a:off x="4857750" y="322592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w" sz="2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check_circle</a:t>
                </a:r>
                <a:endParaRPr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31" name="Google Shape;331;p21"/>
              <p:cNvSpPr txBox="1"/>
              <p:nvPr/>
            </p:nvSpPr>
            <p:spPr>
              <a:xfrm>
                <a:off x="5334000" y="3190875"/>
                <a:ext cx="30480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w" sz="1400">
                    <a:solidFill>
                      <a:srgbClr val="FFFFFF"/>
                    </a:solidFill>
                    <a:latin typeface="Nunito"/>
                    <a:ea typeface="Nunito"/>
                    <a:cs typeface="Nunito"/>
                    <a:sym typeface="Nunito"/>
                  </a:rPr>
                  <a:t>Field Deployment</a:t>
                </a:r>
                <a:endParaRPr b="1" sz="14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iw" sz="1100">
                    <a:solidFill>
                      <a:srgbClr val="E2E8F0"/>
                    </a:solidFill>
                    <a:latin typeface="Nunito"/>
                    <a:ea typeface="Nunito"/>
                    <a:cs typeface="Nunito"/>
                    <a:sym typeface="Nunito"/>
                  </a:rPr>
                  <a:t>System is fully ready for deployment in the field.</a:t>
                </a:r>
                <a:endParaRPr sz="1100">
                  <a:solidFill>
                    <a:srgbClr val="E2E8F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sp>
        <p:nvSpPr>
          <p:cNvPr id="332" name="Google Shape;332;p21"/>
          <p:cNvSpPr/>
          <p:nvPr/>
        </p:nvSpPr>
        <p:spPr>
          <a:xfrm>
            <a:off x="8382000" y="4572000"/>
            <a:ext cx="762000" cy="571500"/>
          </a:xfrm>
          <a:prstGeom prst="rect">
            <a:avLst/>
          </a:prstGeom>
          <a:solidFill>
            <a:srgbClr val="599191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2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338" name="Google Shape;338;p22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5991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2"/>
            <p:cNvSpPr txBox="1"/>
            <p:nvPr/>
          </p:nvSpPr>
          <p:spPr>
            <a:xfrm>
              <a:off x="571500" y="0"/>
              <a:ext cx="800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36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Current Tests Status</a:t>
              </a:r>
              <a:endParaRPr b="1" sz="36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40" name="Google Shape;340;p22"/>
          <p:cNvGrpSpPr/>
          <p:nvPr/>
        </p:nvGrpSpPr>
        <p:grpSpPr>
          <a:xfrm>
            <a:off x="571500" y="1333500"/>
            <a:ext cx="8001000" cy="762000"/>
            <a:chOff x="571500" y="1333500"/>
            <a:chExt cx="8001000" cy="762000"/>
          </a:xfrm>
        </p:grpSpPr>
        <p:sp>
          <p:nvSpPr>
            <p:cNvPr id="341" name="Google Shape;341;p22"/>
            <p:cNvSpPr/>
            <p:nvPr/>
          </p:nvSpPr>
          <p:spPr>
            <a:xfrm>
              <a:off x="571500" y="1333500"/>
              <a:ext cx="80010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2"/>
            <p:cNvSpPr txBox="1"/>
            <p:nvPr/>
          </p:nvSpPr>
          <p:spPr>
            <a:xfrm>
              <a:off x="762000" y="133350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800">
                  <a:solidFill>
                    <a:srgbClr val="1E293B"/>
                  </a:solidFill>
                  <a:latin typeface="Nunito"/>
                  <a:ea typeface="Nunito"/>
                  <a:cs typeface="Nunito"/>
                  <a:sym typeface="Nunito"/>
                </a:rPr>
                <a:t>Total Tests in Suite: </a:t>
              </a:r>
              <a:r>
                <a:rPr b="1" lang="iw" sz="24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51</a:t>
              </a:r>
              <a:endParaRPr b="1" sz="1800">
                <a:solidFill>
                  <a:srgbClr val="1E293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43" name="Google Shape;343;p22"/>
          <p:cNvGrpSpPr/>
          <p:nvPr/>
        </p:nvGrpSpPr>
        <p:grpSpPr>
          <a:xfrm>
            <a:off x="571500" y="2286000"/>
            <a:ext cx="2476500" cy="1238400"/>
            <a:chOff x="571500" y="2286000"/>
            <a:chExt cx="2476500" cy="1238400"/>
          </a:xfrm>
        </p:grpSpPr>
        <p:sp>
          <p:nvSpPr>
            <p:cNvPr id="344" name="Google Shape;344;p22"/>
            <p:cNvSpPr/>
            <p:nvPr/>
          </p:nvSpPr>
          <p:spPr>
            <a:xfrm>
              <a:off x="571500" y="2286000"/>
              <a:ext cx="24765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2"/>
            <p:cNvSpPr txBox="1"/>
            <p:nvPr/>
          </p:nvSpPr>
          <p:spPr>
            <a:xfrm>
              <a:off x="571500" y="2286000"/>
              <a:ext cx="2476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32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20</a:t>
              </a:r>
              <a:endParaRPr b="1" sz="32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1E293B"/>
                  </a:solidFill>
                  <a:latin typeface="Nunito"/>
                  <a:ea typeface="Nunito"/>
                  <a:cs typeface="Nunito"/>
                  <a:sym typeface="Nunito"/>
                </a:rPr>
                <a:t>Unit Tests</a:t>
              </a:r>
              <a:endParaRPr b="1" sz="1400">
                <a:solidFill>
                  <a:srgbClr val="1E293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46" name="Google Shape;346;p22"/>
          <p:cNvGrpSpPr/>
          <p:nvPr/>
        </p:nvGrpSpPr>
        <p:grpSpPr>
          <a:xfrm>
            <a:off x="3333750" y="2286000"/>
            <a:ext cx="2476500" cy="1238400"/>
            <a:chOff x="3333750" y="2286000"/>
            <a:chExt cx="2476500" cy="1238400"/>
          </a:xfrm>
        </p:grpSpPr>
        <p:sp>
          <p:nvSpPr>
            <p:cNvPr id="347" name="Google Shape;347;p22"/>
            <p:cNvSpPr/>
            <p:nvPr/>
          </p:nvSpPr>
          <p:spPr>
            <a:xfrm>
              <a:off x="3333750" y="2286000"/>
              <a:ext cx="24765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2"/>
            <p:cNvSpPr txBox="1"/>
            <p:nvPr/>
          </p:nvSpPr>
          <p:spPr>
            <a:xfrm>
              <a:off x="3333750" y="2286000"/>
              <a:ext cx="2476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32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12</a:t>
              </a:r>
              <a:endParaRPr b="1" sz="32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1E293B"/>
                  </a:solidFill>
                  <a:latin typeface="Nunito"/>
                  <a:ea typeface="Nunito"/>
                  <a:cs typeface="Nunito"/>
                  <a:sym typeface="Nunito"/>
                </a:rPr>
                <a:t>Integration Tests</a:t>
              </a:r>
              <a:endParaRPr b="1" sz="1400">
                <a:solidFill>
                  <a:srgbClr val="1E293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49" name="Google Shape;349;p22"/>
          <p:cNvGrpSpPr/>
          <p:nvPr/>
        </p:nvGrpSpPr>
        <p:grpSpPr>
          <a:xfrm>
            <a:off x="6096000" y="2286000"/>
            <a:ext cx="2476500" cy="1238400"/>
            <a:chOff x="6096000" y="2286000"/>
            <a:chExt cx="2476500" cy="1238400"/>
          </a:xfrm>
        </p:grpSpPr>
        <p:sp>
          <p:nvSpPr>
            <p:cNvPr id="350" name="Google Shape;350;p22"/>
            <p:cNvSpPr/>
            <p:nvPr/>
          </p:nvSpPr>
          <p:spPr>
            <a:xfrm>
              <a:off x="6096000" y="2286000"/>
              <a:ext cx="24765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2"/>
            <p:cNvSpPr txBox="1"/>
            <p:nvPr/>
          </p:nvSpPr>
          <p:spPr>
            <a:xfrm>
              <a:off x="6096000" y="2286000"/>
              <a:ext cx="2476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32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10</a:t>
              </a:r>
              <a:endParaRPr b="1" sz="32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1E293B"/>
                  </a:solidFill>
                  <a:latin typeface="Nunito"/>
                  <a:ea typeface="Nunito"/>
                  <a:cs typeface="Nunito"/>
                  <a:sym typeface="Nunito"/>
                </a:rPr>
                <a:t>System Tests</a:t>
              </a:r>
              <a:endParaRPr b="1" sz="1400">
                <a:solidFill>
                  <a:srgbClr val="1E293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52" name="Google Shape;352;p22"/>
          <p:cNvGrpSpPr/>
          <p:nvPr/>
        </p:nvGrpSpPr>
        <p:grpSpPr>
          <a:xfrm>
            <a:off x="571500" y="3810000"/>
            <a:ext cx="3857700" cy="952500"/>
            <a:chOff x="571500" y="3810000"/>
            <a:chExt cx="3857700" cy="952500"/>
          </a:xfrm>
        </p:grpSpPr>
        <p:sp>
          <p:nvSpPr>
            <p:cNvPr id="353" name="Google Shape;353;p22"/>
            <p:cNvSpPr/>
            <p:nvPr/>
          </p:nvSpPr>
          <p:spPr>
            <a:xfrm>
              <a:off x="571500" y="3810000"/>
              <a:ext cx="38577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2"/>
            <p:cNvSpPr txBox="1"/>
            <p:nvPr/>
          </p:nvSpPr>
          <p:spPr>
            <a:xfrm>
              <a:off x="571500" y="3810000"/>
              <a:ext cx="3857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142875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28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8</a:t>
              </a:r>
              <a:endParaRPr b="1" sz="28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1E293B"/>
                  </a:solidFill>
                  <a:latin typeface="Nunito"/>
                  <a:ea typeface="Nunito"/>
                  <a:cs typeface="Nunito"/>
                  <a:sym typeface="Nunito"/>
                </a:rPr>
                <a:t>API Acceptance Tests</a:t>
              </a:r>
              <a:endParaRPr b="1" sz="1400">
                <a:solidFill>
                  <a:srgbClr val="1E293B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55" name="Google Shape;355;p22"/>
          <p:cNvGrpSpPr/>
          <p:nvPr/>
        </p:nvGrpSpPr>
        <p:grpSpPr>
          <a:xfrm>
            <a:off x="4714875" y="3810000"/>
            <a:ext cx="3857700" cy="952500"/>
            <a:chOff x="4714875" y="3810000"/>
            <a:chExt cx="3857700" cy="952500"/>
          </a:xfrm>
        </p:grpSpPr>
        <p:sp>
          <p:nvSpPr>
            <p:cNvPr id="356" name="Google Shape;356;p22"/>
            <p:cNvSpPr/>
            <p:nvPr/>
          </p:nvSpPr>
          <p:spPr>
            <a:xfrm>
              <a:off x="4714875" y="3810000"/>
              <a:ext cx="3857700" cy="952500"/>
            </a:xfrm>
            <a:prstGeom prst="roundRect">
              <a:avLst>
                <a:gd fmla="val 12000" name="adj"/>
              </a:avLst>
            </a:prstGeom>
            <a:solidFill>
              <a:srgbClr val="599191"/>
            </a:solidFill>
            <a:ln cap="flat" cmpd="sng" w="9525">
              <a:solidFill>
                <a:srgbClr val="599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2"/>
            <p:cNvSpPr txBox="1"/>
            <p:nvPr/>
          </p:nvSpPr>
          <p:spPr>
            <a:xfrm>
              <a:off x="4714875" y="3810000"/>
              <a:ext cx="3857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142875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28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b="1" sz="28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4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Smoke Test</a:t>
              </a:r>
              <a:endParaRPr b="1" sz="14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Completed Tasks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721" y="171450"/>
            <a:ext cx="4658875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24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369" name="Google Shape;369;p24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5991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4"/>
            <p:cNvSpPr txBox="1"/>
            <p:nvPr/>
          </p:nvSpPr>
          <p:spPr>
            <a:xfrm>
              <a:off x="571500" y="0"/>
              <a:ext cx="800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36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Overall Coverage Assessment</a:t>
              </a:r>
              <a:endParaRPr b="1" sz="36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71" name="Google Shape;371;p24"/>
          <p:cNvGrpSpPr/>
          <p:nvPr/>
        </p:nvGrpSpPr>
        <p:grpSpPr>
          <a:xfrm>
            <a:off x="571500" y="1428750"/>
            <a:ext cx="3905400" cy="952500"/>
            <a:chOff x="571500" y="1428750"/>
            <a:chExt cx="3905400" cy="952500"/>
          </a:xfrm>
        </p:grpSpPr>
        <p:sp>
          <p:nvSpPr>
            <p:cNvPr id="372" name="Google Shape;372;p24"/>
            <p:cNvSpPr/>
            <p:nvPr/>
          </p:nvSpPr>
          <p:spPr>
            <a:xfrm>
              <a:off x="571500" y="142875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4"/>
            <p:cNvSpPr txBox="1"/>
            <p:nvPr/>
          </p:nvSpPr>
          <p:spPr>
            <a:xfrm>
              <a:off x="1047750" y="142875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User Journey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1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The soldier-facing borrow and return journey.</a:t>
              </a:r>
              <a:endParaRPr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74" name="Google Shape;374;p24"/>
            <p:cNvSpPr txBox="1"/>
            <p:nvPr/>
          </p:nvSpPr>
          <p:spPr>
            <a:xfrm>
              <a:off x="714375" y="179133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75" name="Google Shape;375;p24"/>
          <p:cNvGrpSpPr/>
          <p:nvPr/>
        </p:nvGrpSpPr>
        <p:grpSpPr>
          <a:xfrm>
            <a:off x="4667250" y="1428750"/>
            <a:ext cx="3905400" cy="952500"/>
            <a:chOff x="4667250" y="1428750"/>
            <a:chExt cx="3905400" cy="952500"/>
          </a:xfrm>
        </p:grpSpPr>
        <p:sp>
          <p:nvSpPr>
            <p:cNvPr id="376" name="Google Shape;376;p24"/>
            <p:cNvSpPr/>
            <p:nvPr/>
          </p:nvSpPr>
          <p:spPr>
            <a:xfrm>
              <a:off x="4667250" y="142875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4"/>
            <p:cNvSpPr txBox="1"/>
            <p:nvPr/>
          </p:nvSpPr>
          <p:spPr>
            <a:xfrm>
              <a:off x="5143500" y="142875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Access Security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1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Document, reservation, and location gates protecting the borrowing process.</a:t>
              </a:r>
              <a:endParaRPr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78" name="Google Shape;378;p24"/>
            <p:cNvSpPr txBox="1"/>
            <p:nvPr/>
          </p:nvSpPr>
          <p:spPr>
            <a:xfrm>
              <a:off x="4810125" y="179133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79" name="Google Shape;379;p24"/>
          <p:cNvGrpSpPr/>
          <p:nvPr/>
        </p:nvGrpSpPr>
        <p:grpSpPr>
          <a:xfrm>
            <a:off x="571500" y="2524125"/>
            <a:ext cx="3905400" cy="952500"/>
            <a:chOff x="571500" y="2524125"/>
            <a:chExt cx="3905400" cy="952500"/>
          </a:xfrm>
        </p:grpSpPr>
        <p:sp>
          <p:nvSpPr>
            <p:cNvPr id="380" name="Google Shape;380;p24"/>
            <p:cNvSpPr/>
            <p:nvPr/>
          </p:nvSpPr>
          <p:spPr>
            <a:xfrm>
              <a:off x="571500" y="2524125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4"/>
            <p:cNvSpPr txBox="1"/>
            <p:nvPr/>
          </p:nvSpPr>
          <p:spPr>
            <a:xfrm>
              <a:off x="1047750" y="2524125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Physical Validation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1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Preconditions: item presence detection and door closure verification.</a:t>
              </a:r>
              <a:endParaRPr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82" name="Google Shape;382;p24"/>
            <p:cNvSpPr txBox="1"/>
            <p:nvPr/>
          </p:nvSpPr>
          <p:spPr>
            <a:xfrm>
              <a:off x="714375" y="28867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sensor_door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83" name="Google Shape;383;p24"/>
          <p:cNvGrpSpPr/>
          <p:nvPr/>
        </p:nvGrpSpPr>
        <p:grpSpPr>
          <a:xfrm>
            <a:off x="4667250" y="2524125"/>
            <a:ext cx="3905400" cy="952500"/>
            <a:chOff x="4667250" y="2524125"/>
            <a:chExt cx="3905400" cy="952500"/>
          </a:xfrm>
        </p:grpSpPr>
        <p:sp>
          <p:nvSpPr>
            <p:cNvPr id="384" name="Google Shape;384;p24"/>
            <p:cNvSpPr/>
            <p:nvPr/>
          </p:nvSpPr>
          <p:spPr>
            <a:xfrm>
              <a:off x="4667250" y="2524125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4"/>
            <p:cNvSpPr txBox="1"/>
            <p:nvPr/>
          </p:nvSpPr>
          <p:spPr>
            <a:xfrm>
              <a:off x="5143500" y="2524125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Admin Controls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1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Active-rental reopen behavior and administrative access provisioning.</a:t>
              </a:r>
              <a:endParaRPr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86" name="Google Shape;386;p24"/>
            <p:cNvSpPr txBox="1"/>
            <p:nvPr/>
          </p:nvSpPr>
          <p:spPr>
            <a:xfrm>
              <a:off x="4810125" y="28867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admin_panel_settings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87" name="Google Shape;387;p24"/>
          <p:cNvGrpSpPr/>
          <p:nvPr/>
        </p:nvGrpSpPr>
        <p:grpSpPr>
          <a:xfrm>
            <a:off x="571500" y="3619500"/>
            <a:ext cx="3905400" cy="952500"/>
            <a:chOff x="571500" y="3619500"/>
            <a:chExt cx="3905400" cy="952500"/>
          </a:xfrm>
        </p:grpSpPr>
        <p:sp>
          <p:nvSpPr>
            <p:cNvPr id="388" name="Google Shape;388;p24"/>
            <p:cNvSpPr/>
            <p:nvPr/>
          </p:nvSpPr>
          <p:spPr>
            <a:xfrm>
              <a:off x="571500" y="361950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4"/>
            <p:cNvSpPr txBox="1"/>
            <p:nvPr/>
          </p:nvSpPr>
          <p:spPr>
            <a:xfrm>
              <a:off x="1047750" y="361950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Operational Workflows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1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Site-manager localized workflows and operational procedures.</a:t>
              </a:r>
              <a:endParaRPr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90" name="Google Shape;390;p24"/>
            <p:cNvSpPr txBox="1"/>
            <p:nvPr/>
          </p:nvSpPr>
          <p:spPr>
            <a:xfrm>
              <a:off x="714375" y="398208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391" name="Google Shape;391;p24"/>
          <p:cNvGrpSpPr/>
          <p:nvPr/>
        </p:nvGrpSpPr>
        <p:grpSpPr>
          <a:xfrm>
            <a:off x="4667250" y="3619500"/>
            <a:ext cx="3905400" cy="952500"/>
            <a:chOff x="4667250" y="3619500"/>
            <a:chExt cx="3905400" cy="952500"/>
          </a:xfrm>
        </p:grpSpPr>
        <p:sp>
          <p:nvSpPr>
            <p:cNvPr id="392" name="Google Shape;392;p24"/>
            <p:cNvSpPr/>
            <p:nvPr/>
          </p:nvSpPr>
          <p:spPr>
            <a:xfrm>
              <a:off x="4667250" y="361950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5991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4"/>
            <p:cNvSpPr txBox="1"/>
            <p:nvPr/>
          </p:nvSpPr>
          <p:spPr>
            <a:xfrm>
              <a:off x="5143500" y="361950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IoT &amp; Event Logic</a:t>
              </a:r>
              <a:endParaRPr b="1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w" sz="11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Real-time IoT message parsing and system-wide event processing.</a:t>
              </a:r>
              <a:endParaRPr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94" name="Google Shape;394;p24"/>
            <p:cNvSpPr txBox="1"/>
            <p:nvPr/>
          </p:nvSpPr>
          <p:spPr>
            <a:xfrm>
              <a:off x="4810125" y="398208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settings_input_antenna</a:t>
              </a:r>
              <a:endParaRPr sz="185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25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400" name="Google Shape;400;p25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5991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5"/>
            <p:cNvSpPr txBox="1"/>
            <p:nvPr/>
          </p:nvSpPr>
          <p:spPr>
            <a:xfrm>
              <a:off x="571500" y="0"/>
              <a:ext cx="800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36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Unit Tests</a:t>
              </a:r>
              <a:endParaRPr b="1" sz="36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402" name="Google Shape;402;p25"/>
          <p:cNvGrpSpPr/>
          <p:nvPr/>
        </p:nvGrpSpPr>
        <p:grpSpPr>
          <a:xfrm>
            <a:off x="571500" y="1333500"/>
            <a:ext cx="3905400" cy="857400"/>
            <a:chOff x="571500" y="1333500"/>
            <a:chExt cx="3905400" cy="857400"/>
          </a:xfrm>
        </p:grpSpPr>
        <p:sp>
          <p:nvSpPr>
            <p:cNvPr id="403" name="Google Shape;403;p25"/>
            <p:cNvSpPr/>
            <p:nvPr/>
          </p:nvSpPr>
          <p:spPr>
            <a:xfrm>
              <a:off x="571500" y="1333500"/>
              <a:ext cx="39054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5"/>
            <p:cNvSpPr txBox="1"/>
            <p:nvPr/>
          </p:nvSpPr>
          <p:spPr>
            <a:xfrm>
              <a:off x="1047750" y="1333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Authentication &amp; Access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iw" sz="11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Principal resolution from API Gateway and role enforcement for soldier, site-manager, and admin scopes.</a:t>
              </a:r>
              <a:endParaRPr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5" name="Google Shape;405;p25"/>
            <p:cNvSpPr txBox="1"/>
            <p:nvPr/>
          </p:nvSpPr>
          <p:spPr>
            <a:xfrm>
              <a:off x="714375" y="164626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vpn_key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406" name="Google Shape;406;p25"/>
          <p:cNvGrpSpPr/>
          <p:nvPr/>
        </p:nvGrpSpPr>
        <p:grpSpPr>
          <a:xfrm>
            <a:off x="4667250" y="1333500"/>
            <a:ext cx="3905400" cy="857400"/>
            <a:chOff x="4667250" y="1333500"/>
            <a:chExt cx="3905400" cy="857400"/>
          </a:xfrm>
        </p:grpSpPr>
        <p:sp>
          <p:nvSpPr>
            <p:cNvPr id="407" name="Google Shape;407;p25"/>
            <p:cNvSpPr/>
            <p:nvPr/>
          </p:nvSpPr>
          <p:spPr>
            <a:xfrm>
              <a:off x="4667250" y="1333500"/>
              <a:ext cx="39054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5"/>
            <p:cNvSpPr txBox="1"/>
            <p:nvPr/>
          </p:nvSpPr>
          <p:spPr>
            <a:xfrm>
              <a:off x="5143500" y="1333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Validation Rules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iw" sz="11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Active-ban behavior and required document validation before borrow actions.</a:t>
              </a:r>
              <a:endParaRPr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9" name="Google Shape;409;p25"/>
            <p:cNvSpPr txBox="1"/>
            <p:nvPr/>
          </p:nvSpPr>
          <p:spPr>
            <a:xfrm>
              <a:off x="4810125" y="164626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410" name="Google Shape;410;p25"/>
          <p:cNvGrpSpPr/>
          <p:nvPr/>
        </p:nvGrpSpPr>
        <p:grpSpPr>
          <a:xfrm>
            <a:off x="571500" y="2333625"/>
            <a:ext cx="3905400" cy="857400"/>
            <a:chOff x="571500" y="2333625"/>
            <a:chExt cx="3905400" cy="857400"/>
          </a:xfrm>
        </p:grpSpPr>
        <p:sp>
          <p:nvSpPr>
            <p:cNvPr id="411" name="Google Shape;411;p25"/>
            <p:cNvSpPr/>
            <p:nvPr/>
          </p:nvSpPr>
          <p:spPr>
            <a:xfrm>
              <a:off x="571500" y="2333625"/>
              <a:ext cx="39054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5"/>
            <p:cNvSpPr txBox="1"/>
            <p:nvPr/>
          </p:nvSpPr>
          <p:spPr>
            <a:xfrm>
              <a:off x="1047750" y="2333625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Site Policy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iw" sz="11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Enforcement for walk-ins and daily rental limits according to site policy.</a:t>
              </a:r>
              <a:endParaRPr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3" name="Google Shape;413;p25"/>
            <p:cNvSpPr txBox="1"/>
            <p:nvPr/>
          </p:nvSpPr>
          <p:spPr>
            <a:xfrm>
              <a:off x="714375" y="2646394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policy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414" name="Google Shape;414;p25"/>
          <p:cNvGrpSpPr/>
          <p:nvPr/>
        </p:nvGrpSpPr>
        <p:grpSpPr>
          <a:xfrm>
            <a:off x="4667250" y="2333625"/>
            <a:ext cx="3905400" cy="857400"/>
            <a:chOff x="4667250" y="2333625"/>
            <a:chExt cx="3905400" cy="857400"/>
          </a:xfrm>
        </p:grpSpPr>
        <p:sp>
          <p:nvSpPr>
            <p:cNvPr id="415" name="Google Shape;415;p25"/>
            <p:cNvSpPr/>
            <p:nvPr/>
          </p:nvSpPr>
          <p:spPr>
            <a:xfrm>
              <a:off x="4667250" y="2333625"/>
              <a:ext cx="39054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5"/>
            <p:cNvSpPr txBox="1"/>
            <p:nvPr/>
          </p:nvSpPr>
          <p:spPr>
            <a:xfrm>
              <a:off x="5143500" y="2333625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Reservation Handling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iw" sz="11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Logic for reservation reuse and handling no-show scenarios effectively.</a:t>
              </a:r>
              <a:endParaRPr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7" name="Google Shape;417;p25"/>
            <p:cNvSpPr txBox="1"/>
            <p:nvPr/>
          </p:nvSpPr>
          <p:spPr>
            <a:xfrm>
              <a:off x="4810125" y="2646394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event_busy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418" name="Google Shape;418;p25"/>
          <p:cNvGrpSpPr/>
          <p:nvPr/>
        </p:nvGrpSpPr>
        <p:grpSpPr>
          <a:xfrm>
            <a:off x="571500" y="3333750"/>
            <a:ext cx="3905400" cy="857400"/>
            <a:chOff x="571500" y="3333750"/>
            <a:chExt cx="3905400" cy="857400"/>
          </a:xfrm>
        </p:grpSpPr>
        <p:sp>
          <p:nvSpPr>
            <p:cNvPr id="419" name="Google Shape;419;p25"/>
            <p:cNvSpPr/>
            <p:nvPr/>
          </p:nvSpPr>
          <p:spPr>
            <a:xfrm>
              <a:off x="571500" y="3333750"/>
              <a:ext cx="39054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5"/>
            <p:cNvSpPr txBox="1"/>
            <p:nvPr/>
          </p:nvSpPr>
          <p:spPr>
            <a:xfrm>
              <a:off x="1047750" y="333375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Geofencing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iw" sz="11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GPS-distance enforcement against site policy to ensure localized operations.</a:t>
              </a:r>
              <a:endParaRPr sz="11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21" name="Google Shape;421;p25"/>
            <p:cNvSpPr txBox="1"/>
            <p:nvPr/>
          </p:nvSpPr>
          <p:spPr>
            <a:xfrm>
              <a:off x="714375" y="364651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location_on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422" name="Google Shape;422;p25"/>
          <p:cNvGrpSpPr/>
          <p:nvPr/>
        </p:nvGrpSpPr>
        <p:grpSpPr>
          <a:xfrm>
            <a:off x="4667250" y="3333750"/>
            <a:ext cx="3905400" cy="857400"/>
            <a:chOff x="4667250" y="3333750"/>
            <a:chExt cx="3905400" cy="857400"/>
          </a:xfrm>
        </p:grpSpPr>
        <p:sp>
          <p:nvSpPr>
            <p:cNvPr id="423" name="Google Shape;423;p25"/>
            <p:cNvSpPr/>
            <p:nvPr/>
          </p:nvSpPr>
          <p:spPr>
            <a:xfrm>
              <a:off x="4667250" y="3333750"/>
              <a:ext cx="3905400" cy="857400"/>
            </a:xfrm>
            <a:prstGeom prst="roundRect">
              <a:avLst>
                <a:gd fmla="val 13333" name="adj"/>
              </a:avLst>
            </a:prstGeom>
            <a:solidFill>
              <a:srgbClr val="5991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5"/>
            <p:cNvSpPr txBox="1"/>
            <p:nvPr/>
          </p:nvSpPr>
          <p:spPr>
            <a:xfrm>
              <a:off x="5143500" y="333375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IoT Processing</a:t>
              </a:r>
              <a:endParaRPr b="1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iw" sz="11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IoT payload parsing and classification for real-time system integration.</a:t>
              </a:r>
              <a:endParaRPr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25" name="Google Shape;425;p25"/>
            <p:cNvSpPr txBox="1"/>
            <p:nvPr/>
          </p:nvSpPr>
          <p:spPr>
            <a:xfrm>
              <a:off x="4810125" y="364651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settings_input_antenna</a:t>
              </a:r>
              <a:endParaRPr sz="185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6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5991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6"/>
          <p:cNvSpPr txBox="1"/>
          <p:nvPr/>
        </p:nvSpPr>
        <p:spPr>
          <a:xfrm>
            <a:off x="5715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36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Integration Tests</a:t>
            </a:r>
            <a:endParaRPr b="1" sz="36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432" name="Google Shape;432;p26"/>
          <p:cNvGrpSpPr/>
          <p:nvPr/>
        </p:nvGrpSpPr>
        <p:grpSpPr>
          <a:xfrm>
            <a:off x="571500" y="1333500"/>
            <a:ext cx="3905400" cy="952500"/>
            <a:chOff x="571500" y="1333500"/>
            <a:chExt cx="3905400" cy="952500"/>
          </a:xfrm>
        </p:grpSpPr>
        <p:sp>
          <p:nvSpPr>
            <p:cNvPr id="433" name="Google Shape;433;p26"/>
            <p:cNvSpPr/>
            <p:nvPr/>
          </p:nvSpPr>
          <p:spPr>
            <a:xfrm>
              <a:off x="571500" y="133350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6"/>
            <p:cNvSpPr txBox="1"/>
            <p:nvPr/>
          </p:nvSpPr>
          <p:spPr>
            <a:xfrm>
              <a:off x="714375" y="1693894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35" name="Google Shape;435;p26"/>
            <p:cNvSpPr txBox="1"/>
            <p:nvPr/>
          </p:nvSpPr>
          <p:spPr>
            <a:xfrm>
              <a:off x="1047750" y="133350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Identity &amp; Security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iw" sz="10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Backend military-ID verification against encrypted stored values and role resolution.</a:t>
              </a:r>
              <a:endParaRPr b="0" sz="10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36" name="Google Shape;436;p26"/>
          <p:cNvGrpSpPr/>
          <p:nvPr/>
        </p:nvGrpSpPr>
        <p:grpSpPr>
          <a:xfrm>
            <a:off x="4667250" y="1333500"/>
            <a:ext cx="3905400" cy="952500"/>
            <a:chOff x="4667250" y="1333500"/>
            <a:chExt cx="3905400" cy="952500"/>
          </a:xfrm>
        </p:grpSpPr>
        <p:sp>
          <p:nvSpPr>
            <p:cNvPr id="437" name="Google Shape;437;p26"/>
            <p:cNvSpPr/>
            <p:nvPr/>
          </p:nvSpPr>
          <p:spPr>
            <a:xfrm>
              <a:off x="4667250" y="133350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6"/>
            <p:cNvSpPr txBox="1"/>
            <p:nvPr/>
          </p:nvSpPr>
          <p:spPr>
            <a:xfrm>
              <a:off x="4810125" y="1693894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filter_alt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39" name="Google Shape;439;p26"/>
            <p:cNvSpPr txBox="1"/>
            <p:nvPr/>
          </p:nvSpPr>
          <p:spPr>
            <a:xfrm>
              <a:off x="5143500" y="133350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Data Logic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iw" sz="10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Repository filtering for bans, rentals, reviews, and admin hierarchy traversal.</a:t>
              </a:r>
              <a:endParaRPr b="0" sz="10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40" name="Google Shape;440;p26"/>
          <p:cNvGrpSpPr/>
          <p:nvPr/>
        </p:nvGrpSpPr>
        <p:grpSpPr>
          <a:xfrm>
            <a:off x="571500" y="2428875"/>
            <a:ext cx="3905400" cy="952500"/>
            <a:chOff x="571500" y="2428875"/>
            <a:chExt cx="3905400" cy="952500"/>
          </a:xfrm>
        </p:grpSpPr>
        <p:sp>
          <p:nvSpPr>
            <p:cNvPr id="441" name="Google Shape;441;p26"/>
            <p:cNvSpPr/>
            <p:nvPr/>
          </p:nvSpPr>
          <p:spPr>
            <a:xfrm>
              <a:off x="571500" y="2428875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6"/>
            <p:cNvSpPr txBox="1"/>
            <p:nvPr/>
          </p:nvSpPr>
          <p:spPr>
            <a:xfrm>
              <a:off x="714375" y="278926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59919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sensors</a:t>
              </a:r>
              <a:endParaRPr sz="1850">
                <a:solidFill>
                  <a:srgbClr val="59919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43" name="Google Shape;443;p26"/>
            <p:cNvSpPr txBox="1"/>
            <p:nvPr/>
          </p:nvSpPr>
          <p:spPr>
            <a:xfrm>
              <a:off x="1047750" y="2428875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599191"/>
                  </a:solidFill>
                  <a:latin typeface="Nunito"/>
                  <a:ea typeface="Nunito"/>
                  <a:cs typeface="Nunito"/>
                  <a:sym typeface="Nunito"/>
                </a:rPr>
                <a:t>Hardware Triggers</a:t>
              </a:r>
              <a:endParaRPr b="1" sz="1100">
                <a:solidFill>
                  <a:srgbClr val="59919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iw" sz="1000">
                  <a:solidFill>
                    <a:srgbClr val="424242"/>
                  </a:solidFill>
                  <a:latin typeface="Nunito"/>
                  <a:ea typeface="Nunito"/>
                  <a:cs typeface="Nunito"/>
                  <a:sym typeface="Nunito"/>
                </a:rPr>
                <a:t>RFID-triggered commands for active rentals and telemetry-driven state updates.</a:t>
              </a:r>
              <a:endParaRPr b="0" sz="10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44" name="Google Shape;444;p26"/>
          <p:cNvGrpSpPr/>
          <p:nvPr/>
        </p:nvGrpSpPr>
        <p:grpSpPr>
          <a:xfrm>
            <a:off x="4667250" y="2428875"/>
            <a:ext cx="3905400" cy="952500"/>
            <a:chOff x="4667250" y="2428875"/>
            <a:chExt cx="3905400" cy="952500"/>
          </a:xfrm>
        </p:grpSpPr>
        <p:sp>
          <p:nvSpPr>
            <p:cNvPr id="445" name="Google Shape;445;p26"/>
            <p:cNvSpPr/>
            <p:nvPr/>
          </p:nvSpPr>
          <p:spPr>
            <a:xfrm>
              <a:off x="4667250" y="2428875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5991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6"/>
            <p:cNvSpPr txBox="1"/>
            <p:nvPr/>
          </p:nvSpPr>
          <p:spPr>
            <a:xfrm>
              <a:off x="4810125" y="2789269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185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47" name="Google Shape;447;p26"/>
            <p:cNvSpPr txBox="1"/>
            <p:nvPr/>
          </p:nvSpPr>
          <p:spPr>
            <a:xfrm>
              <a:off x="5143500" y="2428875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System Integrity</a:t>
              </a:r>
              <a:endParaRPr b="1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iw" sz="10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Persistence integrity for sites, lockers, cells, reservations, and system commands.</a:t>
              </a:r>
              <a:endParaRPr b="0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7"/>
          <p:cNvSpPr txBox="1"/>
          <p:nvPr/>
        </p:nvSpPr>
        <p:spPr>
          <a:xfrm>
            <a:off x="571500" y="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36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Acceptance &amp; System Tests</a:t>
            </a:r>
            <a:endParaRPr b="1" sz="36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454" name="Google Shape;454;p27"/>
          <p:cNvGrpSpPr/>
          <p:nvPr/>
        </p:nvGrpSpPr>
        <p:grpSpPr>
          <a:xfrm>
            <a:off x="571500" y="1333500"/>
            <a:ext cx="3905400" cy="1000200"/>
            <a:chOff x="571500" y="1333500"/>
            <a:chExt cx="3905400" cy="1000200"/>
          </a:xfrm>
        </p:grpSpPr>
        <p:sp>
          <p:nvSpPr>
            <p:cNvPr id="455" name="Google Shape;455;p27"/>
            <p:cNvSpPr/>
            <p:nvPr/>
          </p:nvSpPr>
          <p:spPr>
            <a:xfrm>
              <a:off x="571500" y="1333500"/>
              <a:ext cx="3905400" cy="10002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9525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7"/>
            <p:cNvSpPr txBox="1"/>
            <p:nvPr/>
          </p:nvSpPr>
          <p:spPr>
            <a:xfrm>
              <a:off x="714375" y="171513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3747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directions_walk</a:t>
              </a:r>
              <a:endParaRPr sz="1850">
                <a:solidFill>
                  <a:srgbClr val="3747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57" name="Google Shape;457;p27"/>
            <p:cNvSpPr txBox="1"/>
            <p:nvPr/>
          </p:nvSpPr>
          <p:spPr>
            <a:xfrm>
              <a:off x="1047750" y="1333500"/>
              <a:ext cx="32385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37474F"/>
                  </a:solidFill>
                  <a:latin typeface="Nunito"/>
                  <a:ea typeface="Nunito"/>
                  <a:cs typeface="Nunito"/>
                  <a:sym typeface="Nunito"/>
                </a:rPr>
                <a:t>Soldier Journey</a:t>
              </a:r>
              <a:endParaRPr b="1" sz="1100">
                <a:solidFill>
                  <a:srgbClr val="37474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iw" sz="1000">
                  <a:solidFill>
                    <a:srgbClr val="546E7A"/>
                  </a:solidFill>
                  <a:latin typeface="Nunito"/>
                  <a:ea typeface="Nunito"/>
                  <a:cs typeface="Nunito"/>
                  <a:sym typeface="Nunito"/>
                </a:rPr>
                <a:t>Full process from borrow preconditions to return completion and state transitions.</a:t>
              </a:r>
              <a:endParaRPr b="0" sz="1000">
                <a:solidFill>
                  <a:srgbClr val="546E7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58" name="Google Shape;458;p27"/>
          <p:cNvGrpSpPr/>
          <p:nvPr/>
        </p:nvGrpSpPr>
        <p:grpSpPr>
          <a:xfrm>
            <a:off x="4667250" y="1333500"/>
            <a:ext cx="3905400" cy="1000200"/>
            <a:chOff x="4667250" y="1333500"/>
            <a:chExt cx="3905400" cy="1000200"/>
          </a:xfrm>
        </p:grpSpPr>
        <p:sp>
          <p:nvSpPr>
            <p:cNvPr id="459" name="Google Shape;459;p27"/>
            <p:cNvSpPr/>
            <p:nvPr/>
          </p:nvSpPr>
          <p:spPr>
            <a:xfrm>
              <a:off x="4667250" y="1333500"/>
              <a:ext cx="3905400" cy="10002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9525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7"/>
            <p:cNvSpPr txBox="1"/>
            <p:nvPr/>
          </p:nvSpPr>
          <p:spPr>
            <a:xfrm>
              <a:off x="4810125" y="171513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3747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api</a:t>
              </a:r>
              <a:endParaRPr sz="1850">
                <a:solidFill>
                  <a:srgbClr val="3747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1" name="Google Shape;461;p27"/>
            <p:cNvSpPr txBox="1"/>
            <p:nvPr/>
          </p:nvSpPr>
          <p:spPr>
            <a:xfrm>
              <a:off x="5143500" y="1333500"/>
              <a:ext cx="32385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37474F"/>
                  </a:solidFill>
                  <a:latin typeface="Nunito"/>
                  <a:ea typeface="Nunito"/>
                  <a:cs typeface="Nunito"/>
                  <a:sym typeface="Nunito"/>
                </a:rPr>
                <a:t>API &amp; Conflict Handling</a:t>
              </a:r>
              <a:endParaRPr b="1" sz="1100">
                <a:solidFill>
                  <a:srgbClr val="37474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iw" sz="1000">
                  <a:solidFill>
                    <a:srgbClr val="546E7A"/>
                  </a:solidFill>
                  <a:latin typeface="Nunito"/>
                  <a:ea typeface="Nunito"/>
                  <a:cs typeface="Nunito"/>
                  <a:sym typeface="Nunito"/>
                </a:rPr>
                <a:t>Reservation conflicts and no-show behavior at the live API level.</a:t>
              </a:r>
              <a:endParaRPr b="0" sz="1000">
                <a:solidFill>
                  <a:srgbClr val="546E7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62" name="Google Shape;462;p27"/>
          <p:cNvGrpSpPr/>
          <p:nvPr/>
        </p:nvGrpSpPr>
        <p:grpSpPr>
          <a:xfrm>
            <a:off x="571500" y="2428875"/>
            <a:ext cx="3905400" cy="1000200"/>
            <a:chOff x="571500" y="2428875"/>
            <a:chExt cx="3905400" cy="1000200"/>
          </a:xfrm>
        </p:grpSpPr>
        <p:sp>
          <p:nvSpPr>
            <p:cNvPr id="463" name="Google Shape;463;p27"/>
            <p:cNvSpPr/>
            <p:nvPr/>
          </p:nvSpPr>
          <p:spPr>
            <a:xfrm>
              <a:off x="571500" y="2428875"/>
              <a:ext cx="3905400" cy="10002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9525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7"/>
            <p:cNvSpPr txBox="1"/>
            <p:nvPr/>
          </p:nvSpPr>
          <p:spPr>
            <a:xfrm>
              <a:off x="714375" y="28105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3747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meeting_room</a:t>
              </a:r>
              <a:endParaRPr sz="1850">
                <a:solidFill>
                  <a:srgbClr val="3747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5" name="Google Shape;465;p27"/>
            <p:cNvSpPr txBox="1"/>
            <p:nvPr/>
          </p:nvSpPr>
          <p:spPr>
            <a:xfrm>
              <a:off x="1047750" y="2428875"/>
              <a:ext cx="32385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37474F"/>
                  </a:solidFill>
                  <a:latin typeface="Nunito"/>
                  <a:ea typeface="Nunito"/>
                  <a:cs typeface="Nunito"/>
                  <a:sym typeface="Nunito"/>
                </a:rPr>
                <a:t>Hardware Access</a:t>
              </a:r>
              <a:endParaRPr b="1" sz="1100">
                <a:solidFill>
                  <a:srgbClr val="37474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iw" sz="1000">
                  <a:solidFill>
                    <a:srgbClr val="546E7A"/>
                  </a:solidFill>
                  <a:latin typeface="Nunito"/>
                  <a:ea typeface="Nunito"/>
                  <a:cs typeface="Nunito"/>
                  <a:sym typeface="Nunito"/>
                </a:rPr>
                <a:t>Active-rental reopen, door-close confirmation, and cell state reflections.</a:t>
              </a:r>
              <a:endParaRPr b="0" sz="1000">
                <a:solidFill>
                  <a:srgbClr val="546E7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66" name="Google Shape;466;p27"/>
          <p:cNvGrpSpPr/>
          <p:nvPr/>
        </p:nvGrpSpPr>
        <p:grpSpPr>
          <a:xfrm>
            <a:off x="4667250" y="2428875"/>
            <a:ext cx="3905400" cy="1000200"/>
            <a:chOff x="4667250" y="2428875"/>
            <a:chExt cx="3905400" cy="1000200"/>
          </a:xfrm>
        </p:grpSpPr>
        <p:sp>
          <p:nvSpPr>
            <p:cNvPr id="467" name="Google Shape;467;p27"/>
            <p:cNvSpPr/>
            <p:nvPr/>
          </p:nvSpPr>
          <p:spPr>
            <a:xfrm>
              <a:off x="4667250" y="2428875"/>
              <a:ext cx="3905400" cy="10002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9525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7"/>
            <p:cNvSpPr txBox="1"/>
            <p:nvPr/>
          </p:nvSpPr>
          <p:spPr>
            <a:xfrm>
              <a:off x="4810125" y="28105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3747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1850">
                <a:solidFill>
                  <a:srgbClr val="3747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9" name="Google Shape;469;p27"/>
            <p:cNvSpPr txBox="1"/>
            <p:nvPr/>
          </p:nvSpPr>
          <p:spPr>
            <a:xfrm>
              <a:off x="5143500" y="2428875"/>
              <a:ext cx="32385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37474F"/>
                  </a:solidFill>
                  <a:latin typeface="Nunito"/>
                  <a:ea typeface="Nunito"/>
                  <a:cs typeface="Nunito"/>
                  <a:sym typeface="Nunito"/>
                </a:rPr>
                <a:t>Incident Management</a:t>
              </a:r>
              <a:endParaRPr b="1" sz="1100">
                <a:solidFill>
                  <a:srgbClr val="37474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iw" sz="1000">
                  <a:solidFill>
                    <a:srgbClr val="546E7A"/>
                  </a:solidFill>
                  <a:latin typeface="Nunito"/>
                  <a:ea typeface="Nunito"/>
                  <a:cs typeface="Nunito"/>
                  <a:sym typeface="Nunito"/>
                </a:rPr>
                <a:t>Malfunction reporting (item, locker, site) and manager responses.</a:t>
              </a:r>
              <a:endParaRPr b="0" sz="1000">
                <a:solidFill>
                  <a:srgbClr val="546E7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70" name="Google Shape;470;p27"/>
          <p:cNvGrpSpPr/>
          <p:nvPr/>
        </p:nvGrpSpPr>
        <p:grpSpPr>
          <a:xfrm>
            <a:off x="571500" y="3524250"/>
            <a:ext cx="3905400" cy="1000200"/>
            <a:chOff x="571500" y="3524250"/>
            <a:chExt cx="3905400" cy="1000200"/>
          </a:xfrm>
        </p:grpSpPr>
        <p:sp>
          <p:nvSpPr>
            <p:cNvPr id="471" name="Google Shape;471;p27"/>
            <p:cNvSpPr/>
            <p:nvPr/>
          </p:nvSpPr>
          <p:spPr>
            <a:xfrm>
              <a:off x="571500" y="3524250"/>
              <a:ext cx="3905400" cy="1000200"/>
            </a:xfrm>
            <a:prstGeom prst="roundRect">
              <a:avLst>
                <a:gd fmla="val 11428" name="adj"/>
              </a:avLst>
            </a:prstGeom>
            <a:solidFill>
              <a:srgbClr val="3747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7"/>
            <p:cNvSpPr txBox="1"/>
            <p:nvPr/>
          </p:nvSpPr>
          <p:spPr>
            <a:xfrm>
              <a:off x="714375" y="390588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85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admin_panel_settings</a:t>
              </a:r>
              <a:endParaRPr sz="185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3" name="Google Shape;473;p27"/>
            <p:cNvSpPr txBox="1"/>
            <p:nvPr/>
          </p:nvSpPr>
          <p:spPr>
            <a:xfrm>
              <a:off x="1047750" y="3524250"/>
              <a:ext cx="32385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Admin &amp; Manager Control</a:t>
              </a:r>
              <a:endParaRPr b="1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iw" sz="1000">
                  <a:solidFill>
                    <a:srgbClr val="B0BEC5"/>
                  </a:solidFill>
                  <a:latin typeface="Nunito"/>
                  <a:ea typeface="Nunito"/>
                  <a:cs typeface="Nunito"/>
                  <a:sym typeface="Nunito"/>
                </a:rPr>
                <a:t>Operational overrides, site scoping, provisioning, and access-control.</a:t>
              </a:r>
              <a:endParaRPr b="0" sz="1000">
                <a:solidFill>
                  <a:srgbClr val="B0BEC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8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8"/>
          <p:cNvSpPr txBox="1"/>
          <p:nvPr/>
        </p:nvSpPr>
        <p:spPr>
          <a:xfrm>
            <a:off x="5715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36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Complex End-to-End Test Case</a:t>
            </a:r>
            <a:endParaRPr b="1" sz="36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80" name="Google Shape;480;p28"/>
          <p:cNvSpPr txBox="1"/>
          <p:nvPr/>
        </p:nvSpPr>
        <p:spPr>
          <a:xfrm>
            <a:off x="571500" y="12382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400">
                <a:solidFill>
                  <a:srgbClr val="90A4AE"/>
                </a:solidFill>
                <a:latin typeface="Nunito"/>
                <a:ea typeface="Nunito"/>
                <a:cs typeface="Nunito"/>
                <a:sym typeface="Nunito"/>
              </a:rPr>
              <a:t>TEST ID: </a:t>
            </a:r>
            <a:r>
              <a:rPr b="1" lang="iw" sz="1400">
                <a:solidFill>
                  <a:srgbClr val="4FC3F7"/>
                </a:solidFill>
                <a:latin typeface="Courier New"/>
                <a:ea typeface="Courier New"/>
                <a:cs typeface="Courier New"/>
                <a:sym typeface="Courier New"/>
              </a:rPr>
              <a:t>test_borrow_flow_enforces_documents_reservation_policy_and_distance</a:t>
            </a:r>
            <a:endParaRPr b="1" sz="1400">
              <a:solidFill>
                <a:srgbClr val="90A4A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81" name="Google Shape;481;p28"/>
          <p:cNvGrpSpPr/>
          <p:nvPr/>
        </p:nvGrpSpPr>
        <p:grpSpPr>
          <a:xfrm>
            <a:off x="571500" y="1809750"/>
            <a:ext cx="3905400" cy="892452"/>
            <a:chOff x="571500" y="1809750"/>
            <a:chExt cx="3905400" cy="892452"/>
          </a:xfrm>
        </p:grpSpPr>
        <p:sp>
          <p:nvSpPr>
            <p:cNvPr id="482" name="Google Shape;482;p28"/>
            <p:cNvSpPr/>
            <p:nvPr/>
          </p:nvSpPr>
          <p:spPr>
            <a:xfrm>
              <a:off x="571500" y="1809750"/>
              <a:ext cx="3905400" cy="857400"/>
            </a:xfrm>
            <a:prstGeom prst="roundRect">
              <a:avLst>
                <a:gd fmla="val 11111" name="adj"/>
              </a:avLst>
            </a:prstGeom>
            <a:solidFill>
              <a:srgbClr val="FFFFFF">
                <a:alpha val="95000"/>
              </a:srgbClr>
            </a:solidFill>
            <a:ln cap="flat" cmpd="sng" w="9525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8"/>
            <p:cNvSpPr txBox="1"/>
            <p:nvPr/>
          </p:nvSpPr>
          <p:spPr>
            <a:xfrm>
              <a:off x="714375" y="1844802"/>
              <a:ext cx="38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>
                  <a:solidFill>
                    <a:srgbClr val="3747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2400">
                <a:solidFill>
                  <a:srgbClr val="3747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4" name="Google Shape;484;p28"/>
            <p:cNvSpPr txBox="1"/>
            <p:nvPr/>
          </p:nvSpPr>
          <p:spPr>
            <a:xfrm>
              <a:off x="1190625" y="1809750"/>
              <a:ext cx="3143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37474F"/>
                  </a:solidFill>
                  <a:latin typeface="Nunito"/>
                  <a:ea typeface="Nunito"/>
                  <a:cs typeface="Nunito"/>
                  <a:sym typeface="Nunito"/>
                </a:rPr>
                <a:t>Document Validation</a:t>
              </a:r>
              <a:endParaRPr b="1" sz="1100">
                <a:solidFill>
                  <a:srgbClr val="37474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000">
                  <a:solidFill>
                    <a:srgbClr val="546E7A"/>
                  </a:solidFill>
                  <a:latin typeface="Nunito"/>
                  <a:ea typeface="Nunito"/>
                  <a:cs typeface="Nunito"/>
                  <a:sym typeface="Nunito"/>
                </a:rPr>
                <a:t>Valid documents unblock the stage; missing ones cause immediate rejection.</a:t>
              </a:r>
              <a:endParaRPr sz="1000">
                <a:solidFill>
                  <a:srgbClr val="546E7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85" name="Google Shape;485;p28"/>
          <p:cNvGrpSpPr/>
          <p:nvPr/>
        </p:nvGrpSpPr>
        <p:grpSpPr>
          <a:xfrm>
            <a:off x="4667250" y="1809750"/>
            <a:ext cx="3905400" cy="892452"/>
            <a:chOff x="4667250" y="1809750"/>
            <a:chExt cx="3905400" cy="892452"/>
          </a:xfrm>
        </p:grpSpPr>
        <p:sp>
          <p:nvSpPr>
            <p:cNvPr id="486" name="Google Shape;486;p28"/>
            <p:cNvSpPr/>
            <p:nvPr/>
          </p:nvSpPr>
          <p:spPr>
            <a:xfrm>
              <a:off x="4667250" y="1809750"/>
              <a:ext cx="3905400" cy="857400"/>
            </a:xfrm>
            <a:prstGeom prst="roundRect">
              <a:avLst>
                <a:gd fmla="val 11111" name="adj"/>
              </a:avLst>
            </a:prstGeom>
            <a:solidFill>
              <a:srgbClr val="FFFFFF">
                <a:alpha val="95000"/>
              </a:srgbClr>
            </a:solidFill>
            <a:ln cap="flat" cmpd="sng" w="9525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8"/>
            <p:cNvSpPr txBox="1"/>
            <p:nvPr/>
          </p:nvSpPr>
          <p:spPr>
            <a:xfrm>
              <a:off x="4810125" y="1844802"/>
              <a:ext cx="38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>
                  <a:solidFill>
                    <a:srgbClr val="3747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policy</a:t>
              </a:r>
              <a:endParaRPr sz="2400">
                <a:solidFill>
                  <a:srgbClr val="3747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8" name="Google Shape;488;p28"/>
            <p:cNvSpPr txBox="1"/>
            <p:nvPr/>
          </p:nvSpPr>
          <p:spPr>
            <a:xfrm>
              <a:off x="5286375" y="1809750"/>
              <a:ext cx="3143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37474F"/>
                  </a:solidFill>
                  <a:latin typeface="Nunito"/>
                  <a:ea typeface="Nunito"/>
                  <a:cs typeface="Nunito"/>
                  <a:sym typeface="Nunito"/>
                </a:rPr>
                <a:t>Site Policy Enforcement</a:t>
              </a:r>
              <a:endParaRPr b="1" sz="1100">
                <a:solidFill>
                  <a:srgbClr val="37474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000">
                  <a:solidFill>
                    <a:srgbClr val="546E7A"/>
                  </a:solidFill>
                  <a:latin typeface="Nunito"/>
                  <a:ea typeface="Nunito"/>
                  <a:cs typeface="Nunito"/>
                  <a:sym typeface="Nunito"/>
                </a:rPr>
                <a:t>Systems verify if site-specific policies require active reservations.</a:t>
              </a:r>
              <a:endParaRPr sz="1000">
                <a:solidFill>
                  <a:srgbClr val="546E7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89" name="Google Shape;489;p28"/>
          <p:cNvGrpSpPr/>
          <p:nvPr/>
        </p:nvGrpSpPr>
        <p:grpSpPr>
          <a:xfrm>
            <a:off x="571500" y="2857500"/>
            <a:ext cx="3905400" cy="892452"/>
            <a:chOff x="571500" y="2857500"/>
            <a:chExt cx="3905400" cy="892452"/>
          </a:xfrm>
        </p:grpSpPr>
        <p:sp>
          <p:nvSpPr>
            <p:cNvPr id="490" name="Google Shape;490;p28"/>
            <p:cNvSpPr/>
            <p:nvPr/>
          </p:nvSpPr>
          <p:spPr>
            <a:xfrm>
              <a:off x="571500" y="2857500"/>
              <a:ext cx="3905400" cy="857400"/>
            </a:xfrm>
            <a:prstGeom prst="roundRect">
              <a:avLst>
                <a:gd fmla="val 11111" name="adj"/>
              </a:avLst>
            </a:prstGeom>
            <a:solidFill>
              <a:srgbClr val="FFFFFF">
                <a:alpha val="95000"/>
              </a:srgbClr>
            </a:solidFill>
            <a:ln cap="flat" cmpd="sng" w="9525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8"/>
            <p:cNvSpPr txBox="1"/>
            <p:nvPr/>
          </p:nvSpPr>
          <p:spPr>
            <a:xfrm>
              <a:off x="714375" y="2892552"/>
              <a:ext cx="38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>
                  <a:solidFill>
                    <a:srgbClr val="3747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location_on</a:t>
              </a:r>
              <a:endParaRPr sz="2400">
                <a:solidFill>
                  <a:srgbClr val="3747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92" name="Google Shape;492;p28"/>
            <p:cNvSpPr txBox="1"/>
            <p:nvPr/>
          </p:nvSpPr>
          <p:spPr>
            <a:xfrm>
              <a:off x="1190625" y="2857500"/>
              <a:ext cx="3143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37474F"/>
                  </a:solidFill>
                  <a:latin typeface="Nunito"/>
                  <a:ea typeface="Nunito"/>
                  <a:cs typeface="Nunito"/>
                  <a:sym typeface="Nunito"/>
                </a:rPr>
                <a:t>GPS Proximity Check</a:t>
              </a:r>
              <a:endParaRPr b="1" sz="1100">
                <a:solidFill>
                  <a:srgbClr val="37474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000">
                  <a:solidFill>
                    <a:srgbClr val="546E7A"/>
                  </a:solidFill>
                  <a:latin typeface="Nunito"/>
                  <a:ea typeface="Nunito"/>
                  <a:cs typeface="Nunito"/>
                  <a:sym typeface="Nunito"/>
                </a:rPr>
                <a:t>Distance checks remain active to reject attempts outside defined GPS range.</a:t>
              </a:r>
              <a:endParaRPr sz="1000">
                <a:solidFill>
                  <a:srgbClr val="546E7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93" name="Google Shape;493;p28"/>
          <p:cNvGrpSpPr/>
          <p:nvPr/>
        </p:nvGrpSpPr>
        <p:grpSpPr>
          <a:xfrm>
            <a:off x="4667250" y="2857500"/>
            <a:ext cx="3905400" cy="892452"/>
            <a:chOff x="4667250" y="2857500"/>
            <a:chExt cx="3905400" cy="892452"/>
          </a:xfrm>
        </p:grpSpPr>
        <p:sp>
          <p:nvSpPr>
            <p:cNvPr id="494" name="Google Shape;494;p28"/>
            <p:cNvSpPr/>
            <p:nvPr/>
          </p:nvSpPr>
          <p:spPr>
            <a:xfrm>
              <a:off x="4667250" y="2857500"/>
              <a:ext cx="3905400" cy="857400"/>
            </a:xfrm>
            <a:prstGeom prst="roundRect">
              <a:avLst>
                <a:gd fmla="val 11111" name="adj"/>
              </a:avLst>
            </a:prstGeom>
            <a:solidFill>
              <a:srgbClr val="FFFFFF">
                <a:alpha val="95000"/>
              </a:srgbClr>
            </a:solidFill>
            <a:ln cap="flat" cmpd="sng" w="9525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8"/>
            <p:cNvSpPr txBox="1"/>
            <p:nvPr/>
          </p:nvSpPr>
          <p:spPr>
            <a:xfrm>
              <a:off x="4810125" y="2892552"/>
              <a:ext cx="38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>
                  <a:solidFill>
                    <a:srgbClr val="37474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shopping_cart</a:t>
              </a:r>
              <a:endParaRPr sz="2400">
                <a:solidFill>
                  <a:srgbClr val="37474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96" name="Google Shape;496;p28"/>
            <p:cNvSpPr txBox="1"/>
            <p:nvPr/>
          </p:nvSpPr>
          <p:spPr>
            <a:xfrm>
              <a:off x="5286375" y="2857500"/>
              <a:ext cx="3143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100">
                  <a:solidFill>
                    <a:srgbClr val="37474F"/>
                  </a:solidFill>
                  <a:latin typeface="Nunito"/>
                  <a:ea typeface="Nunito"/>
                  <a:cs typeface="Nunito"/>
                  <a:sym typeface="Nunito"/>
                </a:rPr>
                <a:t>Rental Fulfillment</a:t>
              </a:r>
              <a:endParaRPr b="1" sz="1100">
                <a:solidFill>
                  <a:srgbClr val="37474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000">
                  <a:solidFill>
                    <a:srgbClr val="546E7A"/>
                  </a:solidFill>
                  <a:latin typeface="Nunito"/>
                  <a:ea typeface="Nunito"/>
                  <a:cs typeface="Nunito"/>
                  <a:sym typeface="Nunito"/>
                </a:rPr>
                <a:t>Once all criteria are met, the rental is successfully created.</a:t>
              </a:r>
              <a:endParaRPr sz="1000">
                <a:solidFill>
                  <a:srgbClr val="546E7A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97" name="Google Shape;497;p28"/>
          <p:cNvGrpSpPr/>
          <p:nvPr/>
        </p:nvGrpSpPr>
        <p:grpSpPr>
          <a:xfrm>
            <a:off x="571500" y="3905250"/>
            <a:ext cx="8001000" cy="892452"/>
            <a:chOff x="571500" y="3905250"/>
            <a:chExt cx="8001000" cy="892452"/>
          </a:xfrm>
        </p:grpSpPr>
        <p:sp>
          <p:nvSpPr>
            <p:cNvPr id="498" name="Google Shape;498;p28"/>
            <p:cNvSpPr/>
            <p:nvPr/>
          </p:nvSpPr>
          <p:spPr>
            <a:xfrm>
              <a:off x="571500" y="3905250"/>
              <a:ext cx="8001000" cy="857400"/>
            </a:xfrm>
            <a:prstGeom prst="roundRect">
              <a:avLst>
                <a:gd fmla="val 11111" name="adj"/>
              </a:avLst>
            </a:prstGeom>
            <a:solidFill>
              <a:srgbClr val="37474F">
                <a:alpha val="90000"/>
              </a:srgbClr>
            </a:solidFill>
            <a:ln cap="flat" cmpd="sng" w="19050">
              <a:solidFill>
                <a:srgbClr val="4FC3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8"/>
            <p:cNvSpPr txBox="1"/>
            <p:nvPr/>
          </p:nvSpPr>
          <p:spPr>
            <a:xfrm>
              <a:off x="714375" y="3940302"/>
              <a:ext cx="38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2400">
                  <a:solidFill>
                    <a:srgbClr val="4FC3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sensors</a:t>
              </a:r>
              <a:endParaRPr sz="2400">
                <a:solidFill>
                  <a:srgbClr val="4FC3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00" name="Google Shape;500;p28"/>
            <p:cNvSpPr txBox="1"/>
            <p:nvPr/>
          </p:nvSpPr>
          <p:spPr>
            <a:xfrm>
              <a:off x="1190625" y="3905250"/>
              <a:ext cx="723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w" sz="1200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State Transition &amp; IoT Dispatch</a:t>
              </a:r>
              <a:endParaRPr b="1" sz="1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w" sz="1000">
                  <a:solidFill>
                    <a:srgbClr val="B0BEC5"/>
                  </a:solidFill>
                  <a:latin typeface="Nunito"/>
                  <a:ea typeface="Nunito"/>
                  <a:cs typeface="Nunito"/>
                  <a:sym typeface="Nunito"/>
                </a:rPr>
                <a:t>Cell status updates to IN_USE. An IoT open command is recorded and dispatched to hardware.</a:t>
              </a:r>
              <a:endParaRPr sz="1000">
                <a:solidFill>
                  <a:srgbClr val="B0BEC5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Future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Assignments </a:t>
            </a:r>
            <a:endParaRPr/>
          </a:p>
        </p:txBody>
      </p:sp>
      <p:pic>
        <p:nvPicPr>
          <p:cNvPr id="506" name="Google Shape;50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34750"/>
            <a:ext cx="5687725" cy="250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0125" y="0"/>
            <a:ext cx="4413876" cy="328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Current Project Status</a:t>
            </a:r>
            <a:endParaRPr/>
          </a:p>
        </p:txBody>
      </p:sp>
      <p:sp>
        <p:nvSpPr>
          <p:cNvPr id="513" name="Google Shape;513;p3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Full beta version ready except donation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(scanning algorithm, user management, site manager dashboard complete).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Big refactor done and finished.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Changed and improved the tests.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Ready for deployment in the field.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Current Tests Status</a:t>
            </a:r>
            <a:endParaRPr/>
          </a:p>
        </p:txBody>
      </p:sp>
      <p:sp>
        <p:nvSpPr>
          <p:cNvPr id="519" name="Google Shape;519;p3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</a:t>
            </a:r>
            <a:r>
              <a:rPr lang="iw"/>
              <a:t>he current suite contains 51 tests in total: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20 unit tests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12 integration tests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10 dedicated system tests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8 API acceptance tests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1 smoke test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Overall Coverage Assessment</a:t>
            </a:r>
            <a:endParaRPr/>
          </a:p>
        </p:txBody>
      </p:sp>
      <p:sp>
        <p:nvSpPr>
          <p:cNvPr id="525" name="Google Shape;525;p3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T</a:t>
            </a:r>
            <a:r>
              <a:rPr lang="iw"/>
              <a:t>he soldier-facing borrow and return journey.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The document, reservation, and location gates that protect borrowing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The physical return preconditions of item present and door closed.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Active-rental reopen behavior admin provisioning and access control.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Site-manager operational workflows.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IoT message parsing and event processing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Unit Tests</a:t>
            </a:r>
            <a:endParaRPr/>
          </a:p>
        </p:txBody>
      </p:sp>
      <p:sp>
        <p:nvSpPr>
          <p:cNvPr id="531" name="Google Shape;531;p3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P</a:t>
            </a:r>
            <a:r>
              <a:rPr lang="iw"/>
              <a:t>rincipal resolution from API Gateway claims and local test headers.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Role enforcement for soldier, site-manager, and admin scopes.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Active-ban behavior.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Required document validation before borrow.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Site-policy enforcement for walk-ins and daily rental limits.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Reservation reuse and no-show handling.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GPS-distance enforcement against site policy.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IoT payload parsing and classification.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Integration Tests</a:t>
            </a:r>
            <a:endParaRPr/>
          </a:p>
        </p:txBody>
      </p:sp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B</a:t>
            </a:r>
            <a:r>
              <a:rPr lang="iw"/>
              <a:t>ackend military-ID verification against encrypted stored values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A</a:t>
            </a:r>
            <a:r>
              <a:rPr lang="iw"/>
              <a:t>uth login role resolution across soldier, manager, and admin relations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R</a:t>
            </a:r>
            <a:r>
              <a:rPr lang="iw"/>
              <a:t>epository filtering for bans, active rentals, reviews, and donations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A</a:t>
            </a:r>
            <a:r>
              <a:rPr lang="iw"/>
              <a:t>dmin hierarchy traversal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RFID-triggered open-command behavior for an active rental 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P</a:t>
            </a:r>
            <a:r>
              <a:rPr lang="iw"/>
              <a:t>ersistence integrity for sites, lockers, cells, reservations, rentals, documents, malfunctions, and commands.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Telemetry-driven cell state updates.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Acceptance And </a:t>
            </a:r>
            <a:r>
              <a:rPr lang="iw"/>
              <a:t>System Tests</a:t>
            </a:r>
            <a:endParaRPr/>
          </a:p>
        </p:txBody>
      </p:sp>
      <p:sp>
        <p:nvSpPr>
          <p:cNvPr id="543" name="Google Shape;543;p3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T</a:t>
            </a:r>
            <a:r>
              <a:rPr lang="iw"/>
              <a:t>he full soldier journey from borrow preconditions into return completion.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R</a:t>
            </a:r>
            <a:r>
              <a:rPr lang="iw"/>
              <a:t>eservation conflicts and no-show behavior at the live API level.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A</a:t>
            </a:r>
            <a:r>
              <a:rPr lang="iw"/>
              <a:t>ctive-rental reopen and door-close confirmation.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I</a:t>
            </a:r>
            <a:r>
              <a:rPr lang="iw"/>
              <a:t>tem, locker, and site malfunction reporting and manager response.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M</a:t>
            </a:r>
            <a:r>
              <a:rPr lang="iw"/>
              <a:t>anager site scoping and admin operational override.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Admin inventory provisioning and access-control changes.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Live borrow/return state transitions reflected in cells, reservations, and commands.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Big Big 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689"/>
              <a:t>test_borrow_flow_enforces_documents_reservation_policy_and_distance</a:t>
            </a:r>
            <a:endParaRPr sz="1689"/>
          </a:p>
        </p:txBody>
      </p:sp>
      <p:sp>
        <p:nvSpPr>
          <p:cNvPr id="549" name="Google Shape;549;p3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M</a:t>
            </a:r>
            <a:r>
              <a:rPr lang="iw"/>
              <a:t>issing documents cause rejection.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Valid documents unblock that stage.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Site policy can require reservations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GPS distance can still reject the attempt.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Once all conditions are satisfied, the rental is created.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The cell enters IN_USE state.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/>
              <a:t>An IoT open command is recorded and dispatched.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