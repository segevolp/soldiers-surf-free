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custom-properties+xml" PartName="/docProps/custom.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15" roundtripDataSignature="AMtx7mgPwGu6xhhWTOTtBf6+t4+lBU5AS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15" Type="http://customschemas.google.com/relationships/presentationmetadata" Target="metadata"/><Relationship Id="rId14" Type="http://schemas.openxmlformats.org/officeDocument/2006/relationships/slide" Target="slides/slide10.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g3a31adc4c07_2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192405" lvl="0" marL="228600" rtl="0" algn="l">
              <a:lnSpc>
                <a:spcPct val="90000"/>
              </a:lnSpc>
              <a:spcBef>
                <a:spcPts val="1000"/>
              </a:spcBef>
              <a:spcAft>
                <a:spcPts val="0"/>
              </a:spcAft>
              <a:buClr>
                <a:schemeClr val="dk1"/>
              </a:buClr>
              <a:buSzPts val="1600"/>
              <a:buChar char="•"/>
            </a:pPr>
            <a:r>
              <a:rPr lang="en-US" sz="1600">
                <a:solidFill>
                  <a:schemeClr val="dk1"/>
                </a:solidFill>
                <a:latin typeface="Calibri"/>
                <a:ea typeface="Calibri"/>
                <a:cs typeface="Calibri"/>
                <a:sym typeface="Calibri"/>
              </a:rPr>
              <a:t>Problems we solve: A flexible system that manages entities, manages users and permissions, monitors the status of equipment in real time, allows for expansion and addition of objects, maintains the security of users' information, interfaces to work with sensors and physical hardware components, and finally interfaces to work through the WIX website in a convenient way. In addition, a unique scan of the soldier's card will be used to verify his identity - something that is already registered in a patent that is unique to this project.</a:t>
            </a:r>
            <a:endParaRPr sz="1600">
              <a:solidFill>
                <a:schemeClr val="dk1"/>
              </a:solidFill>
              <a:latin typeface="Calibri"/>
              <a:ea typeface="Calibri"/>
              <a:cs typeface="Calibri"/>
              <a:sym typeface="Calibri"/>
            </a:endParaRPr>
          </a:p>
          <a:p>
            <a:pPr indent="0" lvl="0" marL="0" rtl="0" algn="l">
              <a:lnSpc>
                <a:spcPct val="90000"/>
              </a:lnSpc>
              <a:spcBef>
                <a:spcPts val="0"/>
              </a:spcBef>
              <a:spcAft>
                <a:spcPts val="0"/>
              </a:spcAft>
              <a:buClr>
                <a:schemeClr val="dk1"/>
              </a:buClr>
              <a:buSzPts val="2800"/>
              <a:buFont typeface="Arial"/>
              <a:buNone/>
            </a:pPr>
            <a:r>
              <a:t/>
            </a:r>
            <a:endParaRPr sz="1600">
              <a:solidFill>
                <a:schemeClr val="dk1"/>
              </a:solidFill>
              <a:latin typeface="Calibri"/>
              <a:ea typeface="Calibri"/>
              <a:cs typeface="Calibri"/>
              <a:sym typeface="Calibri"/>
            </a:endParaRPr>
          </a:p>
        </p:txBody>
      </p:sp>
      <p:sp>
        <p:nvSpPr>
          <p:cNvPr id="88" name="Google Shape;88;g3a31adc4c07_2_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g3a31adc4c07_1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90000"/>
              </a:lnSpc>
              <a:spcBef>
                <a:spcPts val="0"/>
              </a:spcBef>
              <a:spcAft>
                <a:spcPts val="0"/>
              </a:spcAft>
              <a:buNone/>
            </a:pPr>
            <a:r>
              <a:rPr lang="en-US" sz="1600">
                <a:solidFill>
                  <a:schemeClr val="dk1"/>
                </a:solidFill>
                <a:latin typeface="Calibri"/>
                <a:ea typeface="Calibri"/>
                <a:cs typeface="Calibri"/>
                <a:sym typeface="Calibri"/>
              </a:rPr>
              <a:t>The project took shape after Ido's death in the war by Gil Horowitz and Ido's family, who were looking for ways to commemorate him in a way that best suited Ido. Ido used to say: "Take a surfboard, I trust you."</a:t>
            </a:r>
            <a:endParaRPr sz="1600">
              <a:solidFill>
                <a:schemeClr val="dk1"/>
              </a:solidFill>
              <a:latin typeface="Calibri"/>
              <a:ea typeface="Calibri"/>
              <a:cs typeface="Calibri"/>
              <a:sym typeface="Calibri"/>
            </a:endParaRPr>
          </a:p>
          <a:p>
            <a:pPr indent="0" lvl="0" marL="0" rtl="0" algn="l">
              <a:lnSpc>
                <a:spcPct val="90000"/>
              </a:lnSpc>
              <a:spcBef>
                <a:spcPts val="0"/>
              </a:spcBef>
              <a:spcAft>
                <a:spcPts val="0"/>
              </a:spcAft>
              <a:buNone/>
            </a:pPr>
            <a:r>
              <a:rPr lang="en-US" sz="1600">
                <a:solidFill>
                  <a:schemeClr val="dk1"/>
                </a:solidFill>
                <a:latin typeface="Calibri"/>
                <a:ea typeface="Calibri"/>
                <a:cs typeface="Calibri"/>
                <a:sym typeface="Calibri"/>
              </a:rPr>
              <a:t>The problem is that the project was built in a very specific way and is not suitable for expansion.</a:t>
            </a:r>
            <a:endParaRPr sz="1600">
              <a:solidFill>
                <a:schemeClr val="dk1"/>
              </a:solidFill>
              <a:latin typeface="Calibri"/>
              <a:ea typeface="Calibri"/>
              <a:cs typeface="Calibri"/>
              <a:sym typeface="Calibri"/>
            </a:endParaRPr>
          </a:p>
          <a:p>
            <a:pPr indent="0" lvl="0" marL="0" rtl="0" algn="l">
              <a:lnSpc>
                <a:spcPct val="90000"/>
              </a:lnSpc>
              <a:spcBef>
                <a:spcPts val="0"/>
              </a:spcBef>
              <a:spcAft>
                <a:spcPts val="0"/>
              </a:spcAft>
              <a:buNone/>
            </a:pPr>
            <a:r>
              <a:rPr lang="en-US" sz="1600">
                <a:solidFill>
                  <a:schemeClr val="dk1"/>
                </a:solidFill>
                <a:latin typeface="Calibri"/>
                <a:ea typeface="Calibri"/>
                <a:cs typeface="Calibri"/>
                <a:sym typeface="Calibri"/>
              </a:rPr>
              <a:t>Our ambition is that the entire project will be in memory of Ido, and in cooperation with municipalities we will be able to place additional cabinets throughout the country, thus commemorating the city's loved ones who were connected to the sea throughout the country using the platform we will create for Ido.</a:t>
            </a:r>
            <a:endParaRPr sz="1600">
              <a:solidFill>
                <a:schemeClr val="dk1"/>
              </a:solidFill>
              <a:latin typeface="Calibri"/>
              <a:ea typeface="Calibri"/>
              <a:cs typeface="Calibri"/>
              <a:sym typeface="Calibri"/>
            </a:endParaRPr>
          </a:p>
        </p:txBody>
      </p:sp>
      <p:sp>
        <p:nvSpPr>
          <p:cNvPr id="94" name="Google Shape;94;g3a31adc4c07_1_3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g3a31adc4c07_1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90000"/>
              </a:lnSpc>
              <a:spcBef>
                <a:spcPts val="0"/>
              </a:spcBef>
              <a:spcAft>
                <a:spcPts val="0"/>
              </a:spcAft>
              <a:buNone/>
            </a:pPr>
            <a:r>
              <a:t/>
            </a:r>
            <a:endParaRPr sz="1600">
              <a:solidFill>
                <a:schemeClr val="dk1"/>
              </a:solidFill>
              <a:latin typeface="Calibri"/>
              <a:ea typeface="Calibri"/>
              <a:cs typeface="Calibri"/>
              <a:sym typeface="Calibri"/>
            </a:endParaRPr>
          </a:p>
        </p:txBody>
      </p:sp>
      <p:sp>
        <p:nvSpPr>
          <p:cNvPr id="100" name="Google Shape;100;g3a31adc4c07_1_1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g3a31adc4c07_1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90000"/>
              </a:lnSpc>
              <a:spcBef>
                <a:spcPts val="0"/>
              </a:spcBef>
              <a:spcAft>
                <a:spcPts val="0"/>
              </a:spcAft>
              <a:buNone/>
            </a:pPr>
            <a:r>
              <a:t/>
            </a:r>
            <a:endParaRPr sz="1000"/>
          </a:p>
        </p:txBody>
      </p:sp>
      <p:sp>
        <p:nvSpPr>
          <p:cNvPr id="106" name="Google Shape;106;g3a31adc4c07_1_1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g3a7d18cd67d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90000"/>
              </a:lnSpc>
              <a:spcBef>
                <a:spcPts val="0"/>
              </a:spcBef>
              <a:spcAft>
                <a:spcPts val="0"/>
              </a:spcAft>
              <a:buNone/>
            </a:pPr>
            <a:r>
              <a:t/>
            </a:r>
            <a:endParaRPr sz="1000"/>
          </a:p>
        </p:txBody>
      </p:sp>
      <p:sp>
        <p:nvSpPr>
          <p:cNvPr id="112" name="Google Shape;112;g3a7d18cd67d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g3a7d18cd67d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90000"/>
              </a:lnSpc>
              <a:spcBef>
                <a:spcPts val="0"/>
              </a:spcBef>
              <a:spcAft>
                <a:spcPts val="0"/>
              </a:spcAft>
              <a:buNone/>
            </a:pPr>
            <a:r>
              <a:t/>
            </a:r>
            <a:endParaRPr sz="1000"/>
          </a:p>
        </p:txBody>
      </p:sp>
      <p:sp>
        <p:nvSpPr>
          <p:cNvPr id="118" name="Google Shape;118;g3a7d18cd67d_0_1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g3a7d18cd67d_0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90000"/>
              </a:lnSpc>
              <a:spcBef>
                <a:spcPts val="0"/>
              </a:spcBef>
              <a:spcAft>
                <a:spcPts val="0"/>
              </a:spcAft>
              <a:buNone/>
            </a:pPr>
            <a:r>
              <a:t/>
            </a:r>
            <a:endParaRPr sz="1000"/>
          </a:p>
        </p:txBody>
      </p:sp>
      <p:sp>
        <p:nvSpPr>
          <p:cNvPr id="124" name="Google Shape;124;g3a7d18cd67d_0_1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g3a31adc4c07_1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90000"/>
              </a:lnSpc>
              <a:spcBef>
                <a:spcPts val="0"/>
              </a:spcBef>
              <a:spcAft>
                <a:spcPts val="0"/>
              </a:spcAft>
              <a:buNone/>
            </a:pPr>
            <a:r>
              <a:t/>
            </a:r>
            <a:endParaRPr sz="100"/>
          </a:p>
        </p:txBody>
      </p:sp>
      <p:sp>
        <p:nvSpPr>
          <p:cNvPr id="130" name="Google Shape;130;g3a31adc4c07_1_2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g3a31adc4c07_1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90000"/>
              </a:lnSpc>
              <a:spcBef>
                <a:spcPts val="0"/>
              </a:spcBef>
              <a:spcAft>
                <a:spcPts val="0"/>
              </a:spcAft>
              <a:buNone/>
            </a:pPr>
            <a:r>
              <a:t/>
            </a:r>
            <a:endParaRPr sz="1000"/>
          </a:p>
        </p:txBody>
      </p:sp>
      <p:sp>
        <p:nvSpPr>
          <p:cNvPr id="137" name="Google Shape;137;g3a31adc4c07_1_2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1" name="Shape 11"/>
        <p:cNvGrpSpPr/>
        <p:nvPr/>
      </p:nvGrpSpPr>
      <p:grpSpPr>
        <a:xfrm>
          <a:off x="0" y="0"/>
          <a:ext cx="0" cy="0"/>
          <a:chOff x="0" y="0"/>
          <a:chExt cx="0" cy="0"/>
        </a:xfrm>
      </p:grpSpPr>
      <p:sp>
        <p:nvSpPr>
          <p:cNvPr id="12" name="Google Shape;12;p14"/>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 name="Google Shape;13;p14"/>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4" name="Google Shape;14;p1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 name="Google Shape;15;p1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 name="Google Shape;16;p1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7" name="Shape 17"/>
        <p:cNvGrpSpPr/>
        <p:nvPr/>
      </p:nvGrpSpPr>
      <p:grpSpPr>
        <a:xfrm>
          <a:off x="0" y="0"/>
          <a:ext cx="0" cy="0"/>
          <a:chOff x="0" y="0"/>
          <a:chExt cx="0" cy="0"/>
        </a:xfrm>
      </p:grpSpPr>
      <p:sp>
        <p:nvSpPr>
          <p:cNvPr id="18" name="Google Shape;18;p1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 name="Google Shape;19;p15"/>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 name="Google Shape;20;p1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 name="Google Shape;21;p1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 name="Google Shape;22;p1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3" name="Shape 23"/>
        <p:cNvGrpSpPr/>
        <p:nvPr/>
      </p:nvGrpSpPr>
      <p:grpSpPr>
        <a:xfrm>
          <a:off x="0" y="0"/>
          <a:ext cx="0" cy="0"/>
          <a:chOff x="0" y="0"/>
          <a:chExt cx="0" cy="0"/>
        </a:xfrm>
      </p:grpSpPr>
      <p:sp>
        <p:nvSpPr>
          <p:cNvPr id="24" name="Google Shape;24;p16"/>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 name="Google Shape;25;p16"/>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26" name="Google Shape;26;p1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 name="Google Shape;27;p1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8" name="Google Shape;28;p1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29" name="Shape 29"/>
        <p:cNvGrpSpPr/>
        <p:nvPr/>
      </p:nvGrpSpPr>
      <p:grpSpPr>
        <a:xfrm>
          <a:off x="0" y="0"/>
          <a:ext cx="0" cy="0"/>
          <a:chOff x="0" y="0"/>
          <a:chExt cx="0" cy="0"/>
        </a:xfrm>
      </p:grpSpPr>
      <p:sp>
        <p:nvSpPr>
          <p:cNvPr id="30" name="Google Shape;30;p1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1" name="Google Shape;31;p17"/>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2" name="Google Shape;32;p17"/>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3" name="Google Shape;33;p1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4" name="Google Shape;34;p1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 name="Google Shape;35;p1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36" name="Shape 36"/>
        <p:cNvGrpSpPr/>
        <p:nvPr/>
      </p:nvGrpSpPr>
      <p:grpSpPr>
        <a:xfrm>
          <a:off x="0" y="0"/>
          <a:ext cx="0" cy="0"/>
          <a:chOff x="0" y="0"/>
          <a:chExt cx="0" cy="0"/>
        </a:xfrm>
      </p:grpSpPr>
      <p:sp>
        <p:nvSpPr>
          <p:cNvPr id="37" name="Google Shape;37;p18"/>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8" name="Google Shape;38;p18"/>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39" name="Google Shape;39;p18"/>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0" name="Google Shape;40;p18"/>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1" name="Google Shape;41;p18"/>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2" name="Google Shape;42;p1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1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4" name="Google Shape;44;p1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5" name="Shape 45"/>
        <p:cNvGrpSpPr/>
        <p:nvPr/>
      </p:nvGrpSpPr>
      <p:grpSpPr>
        <a:xfrm>
          <a:off x="0" y="0"/>
          <a:ext cx="0" cy="0"/>
          <a:chOff x="0" y="0"/>
          <a:chExt cx="0" cy="0"/>
        </a:xfrm>
      </p:grpSpPr>
      <p:sp>
        <p:nvSpPr>
          <p:cNvPr id="46" name="Google Shape;46;p1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7" name="Google Shape;47;p1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1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9" name="Google Shape;49;p1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0" name="Shape 50"/>
        <p:cNvGrpSpPr/>
        <p:nvPr/>
      </p:nvGrpSpPr>
      <p:grpSpPr>
        <a:xfrm>
          <a:off x="0" y="0"/>
          <a:ext cx="0" cy="0"/>
          <a:chOff x="0" y="0"/>
          <a:chExt cx="0" cy="0"/>
        </a:xfrm>
      </p:grpSpPr>
      <p:sp>
        <p:nvSpPr>
          <p:cNvPr id="51" name="Google Shape;51;p2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2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2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21"/>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21"/>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57" name="Google Shape;57;p21"/>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58" name="Google Shape;58;p2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2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2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22"/>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22"/>
          <p:cNvSpPr/>
          <p:nvPr>
            <p:ph idx="2" type="pic"/>
          </p:nvPr>
        </p:nvSpPr>
        <p:spPr>
          <a:xfrm>
            <a:off x="5183188" y="987425"/>
            <a:ext cx="6172200" cy="4873625"/>
          </a:xfrm>
          <a:prstGeom prst="rect">
            <a:avLst/>
          </a:prstGeom>
          <a:noFill/>
          <a:ln>
            <a:noFill/>
          </a:ln>
        </p:spPr>
      </p:sp>
      <p:sp>
        <p:nvSpPr>
          <p:cNvPr id="64" name="Google Shape;64;p22"/>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5" name="Google Shape;65;p2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2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2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2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23"/>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1" name="Google Shape;71;p2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2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2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24"/>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24"/>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7" name="Google Shape;77;p2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2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2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8" name="Google Shape;8;p1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1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1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hyperlink" Target="https://docs.google.com/spreadsheets/d/1ejUUHMswNtzBz0Xb5K2AJPZKBYJWNwd0J2LGulFbTSU/edit?usp=sharing" TargetMode="External"/><Relationship Id="rId4" Type="http://schemas.openxmlformats.org/officeDocument/2006/relationships/hyperlink" Target="https://docs.google.com/document/d/1B3mVHNoirgkTyh86eIeuaQHe8VNQNDG8FvpYjlf8-6o/edit?usp=sharing"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hyperlink" Target="https://www.idoaviv.com/" TargetMode="External"/><Relationship Id="rId4" Type="http://schemas.openxmlformats.org/officeDocument/2006/relationships/hyperlink" Target="https://surfo.co.il/%D7%92%D7%9C%D7%A9%D7%9F-%D7%9C%D7%9B%D7%9C-%D7%9C%D7%97%D7%99%D7%99%D7%9C/?srsltid=AfmBOooWbqONdlylqA9VabFycjzGu_HQZKSLZ_0DSiUzOPvnhLoNDzjg" TargetMode="External"/><Relationship Id="rId5" Type="http://schemas.openxmlformats.org/officeDocument/2006/relationships/hyperlink" Target="https://drive.google.com/file/d/1gcUoJ08vsGg69JSf5BaEDvYEKWnk-EzC/view?usp=drive_link" TargetMode="External"/><Relationship Id="rId6" Type="http://schemas.openxmlformats.org/officeDocument/2006/relationships/image" Target="../media/image5.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fontScale="90000"/>
          </a:bodyPr>
          <a:lstStyle/>
          <a:p>
            <a:pPr indent="0" lvl="0" marL="0" rtl="0" algn="ctr">
              <a:lnSpc>
                <a:spcPct val="90000"/>
              </a:lnSpc>
              <a:spcBef>
                <a:spcPts val="0"/>
              </a:spcBef>
              <a:spcAft>
                <a:spcPts val="0"/>
              </a:spcAft>
              <a:buClr>
                <a:schemeClr val="accent2"/>
              </a:buClr>
              <a:buSzPct val="214285"/>
              <a:buFont typeface="Calibri"/>
              <a:buNone/>
            </a:pPr>
            <a:r>
              <a:rPr lang="en-US">
                <a:solidFill>
                  <a:schemeClr val="accent2"/>
                </a:solidFill>
              </a:rPr>
              <a:t>Ido Aviv Memorial- S</a:t>
            </a:r>
            <a:r>
              <a:rPr lang="en-US">
                <a:solidFill>
                  <a:schemeClr val="accent2"/>
                </a:solidFill>
              </a:rPr>
              <a:t>oldiers</a:t>
            </a:r>
            <a:r>
              <a:rPr lang="en-US">
                <a:solidFill>
                  <a:schemeClr val="accent2"/>
                </a:solidFill>
              </a:rPr>
              <a:t> Surf free</a:t>
            </a:r>
            <a:br>
              <a:rPr lang="en-US"/>
            </a:br>
            <a:br>
              <a:rPr lang="en-US" sz="2800"/>
            </a:br>
            <a:r>
              <a:rPr lang="en-US" sz="2800">
                <a:solidFill>
                  <a:schemeClr val="accent4"/>
                </a:solidFill>
              </a:rPr>
              <a:t>Ofek Yabo, Dolev David, Segev Olpak, Guy Yehoshua</a:t>
            </a:r>
            <a:endParaRPr sz="2800">
              <a:solidFill>
                <a:schemeClr val="accent4"/>
              </a:solidFill>
            </a:endParaRPr>
          </a:p>
        </p:txBody>
      </p:sp>
      <p:sp>
        <p:nvSpPr>
          <p:cNvPr id="85" name="Google Shape;85;p1"/>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lnSpcReduction="10000"/>
          </a:bodyPr>
          <a:lstStyle/>
          <a:p>
            <a:pPr indent="0" lvl="0" marL="0" rtl="0" algn="ctr">
              <a:lnSpc>
                <a:spcPct val="90000"/>
              </a:lnSpc>
              <a:spcBef>
                <a:spcPts val="0"/>
              </a:spcBef>
              <a:spcAft>
                <a:spcPts val="0"/>
              </a:spcAft>
              <a:buClr>
                <a:schemeClr val="dk1"/>
              </a:buClr>
              <a:buSzPts val="2400"/>
              <a:buNone/>
            </a:pPr>
            <a:r>
              <a:t/>
            </a:r>
            <a:endParaRPr/>
          </a:p>
          <a:p>
            <a:pPr indent="0" lvl="0" marL="0" rtl="0" algn="ctr">
              <a:lnSpc>
                <a:spcPct val="90000"/>
              </a:lnSpc>
              <a:spcBef>
                <a:spcPts val="1000"/>
              </a:spcBef>
              <a:spcAft>
                <a:spcPts val="0"/>
              </a:spcAft>
              <a:buClr>
                <a:schemeClr val="accent4"/>
              </a:buClr>
              <a:buSzPts val="2400"/>
              <a:buNone/>
            </a:pPr>
            <a:r>
              <a:rPr lang="en-US">
                <a:solidFill>
                  <a:schemeClr val="accent4"/>
                </a:solidFill>
              </a:rPr>
              <a:t>Software Engineering</a:t>
            </a:r>
            <a:endParaRPr/>
          </a:p>
          <a:p>
            <a:pPr indent="0" lvl="0" marL="0" rtl="0" algn="ctr">
              <a:lnSpc>
                <a:spcPct val="90000"/>
              </a:lnSpc>
              <a:spcBef>
                <a:spcPts val="1000"/>
              </a:spcBef>
              <a:spcAft>
                <a:spcPts val="0"/>
              </a:spcAft>
              <a:buClr>
                <a:schemeClr val="accent4"/>
              </a:buClr>
              <a:buSzPts val="2400"/>
              <a:buNone/>
            </a:pPr>
            <a:r>
              <a:rPr lang="en-US">
                <a:solidFill>
                  <a:schemeClr val="accent4"/>
                </a:solidFill>
              </a:rPr>
              <a:t>Faculty of Engineering</a:t>
            </a:r>
            <a:endParaRPr/>
          </a:p>
          <a:p>
            <a:pPr indent="0" lvl="0" marL="0" rtl="0" algn="ctr">
              <a:lnSpc>
                <a:spcPct val="90000"/>
              </a:lnSpc>
              <a:spcBef>
                <a:spcPts val="1000"/>
              </a:spcBef>
              <a:spcAft>
                <a:spcPts val="0"/>
              </a:spcAft>
              <a:buClr>
                <a:schemeClr val="accent2"/>
              </a:buClr>
              <a:buSzPts val="2400"/>
              <a:buNone/>
            </a:pPr>
            <a:r>
              <a:rPr lang="en-US">
                <a:solidFill>
                  <a:schemeClr val="accent2"/>
                </a:solidFill>
              </a:rPr>
              <a:t>Ben Gurion University of the Negev</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sp>
        <p:nvSpPr>
          <p:cNvPr id="90" name="Google Shape;90;g3a31adc4c07_2_5"/>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accent4"/>
              </a:buClr>
              <a:buSzPts val="4400"/>
              <a:buFont typeface="Calibri"/>
              <a:buNone/>
            </a:pPr>
            <a:r>
              <a:rPr lang="en-US">
                <a:solidFill>
                  <a:schemeClr val="accent4"/>
                </a:solidFill>
              </a:rPr>
              <a:t>Project’s Description</a:t>
            </a:r>
            <a:endParaRPr/>
          </a:p>
        </p:txBody>
      </p:sp>
      <p:sp>
        <p:nvSpPr>
          <p:cNvPr id="91" name="Google Shape;91;g3a31adc4c07_2_5"/>
          <p:cNvSpPr txBox="1"/>
          <p:nvPr>
            <p:ph idx="1" type="body"/>
          </p:nvPr>
        </p:nvSpPr>
        <p:spPr>
          <a:xfrm>
            <a:off x="661100" y="2195000"/>
            <a:ext cx="10515600" cy="4351200"/>
          </a:xfrm>
          <a:prstGeom prst="rect">
            <a:avLst/>
          </a:prstGeom>
          <a:noFill/>
          <a:ln>
            <a:noFill/>
          </a:ln>
        </p:spPr>
        <p:txBody>
          <a:bodyPr anchorCtr="0" anchor="t" bIns="45700" lIns="91425" spcFirstLastPara="1" rIns="91425" wrap="square" tIns="45700">
            <a:normAutofit/>
          </a:bodyPr>
          <a:lstStyle/>
          <a:p>
            <a:pPr indent="-342900" lvl="0" marL="457200" rtl="0" algn="l">
              <a:spcBef>
                <a:spcPts val="1000"/>
              </a:spcBef>
              <a:spcAft>
                <a:spcPts val="0"/>
              </a:spcAft>
              <a:buSzPts val="1800"/>
              <a:buChar char="●"/>
            </a:pPr>
            <a:r>
              <a:rPr lang="en-US"/>
              <a:t>A Public surfboard lending website for soldiers, in memory of IDF combat Ido Aviv</a:t>
            </a:r>
            <a:endParaRPr/>
          </a:p>
          <a:p>
            <a:pPr indent="0" lvl="0" marL="457200" rtl="0" algn="l">
              <a:spcBef>
                <a:spcPts val="1000"/>
              </a:spcBef>
              <a:spcAft>
                <a:spcPts val="0"/>
              </a:spcAft>
              <a:buNone/>
            </a:pPr>
            <a:r>
              <a:t/>
            </a:r>
            <a:endParaRPr/>
          </a:p>
          <a:p>
            <a:pPr indent="-342900" lvl="0" marL="457200" rtl="0" algn="l">
              <a:spcBef>
                <a:spcPts val="1000"/>
              </a:spcBef>
              <a:spcAft>
                <a:spcPts val="0"/>
              </a:spcAft>
              <a:buSzPts val="1800"/>
              <a:buChar char="●"/>
            </a:pPr>
            <a:r>
              <a:rPr lang="en-US"/>
              <a:t>full-stack system</a:t>
            </a:r>
            <a:endParaRPr/>
          </a:p>
          <a:p>
            <a:pPr indent="-342900" lvl="1" marL="914400" rtl="0" algn="l">
              <a:spcBef>
                <a:spcPts val="0"/>
              </a:spcBef>
              <a:spcAft>
                <a:spcPts val="0"/>
              </a:spcAft>
              <a:buSzPts val="1800"/>
              <a:buChar char="○"/>
            </a:pPr>
            <a:r>
              <a:rPr lang="en-US"/>
              <a:t>A website for soldiers to register &amp; reserve a surfboard.</a:t>
            </a:r>
            <a:endParaRPr/>
          </a:p>
          <a:p>
            <a:pPr indent="-342900" lvl="1" marL="914400" rtl="0" algn="l">
              <a:spcBef>
                <a:spcPts val="0"/>
              </a:spcBef>
              <a:spcAft>
                <a:spcPts val="0"/>
              </a:spcAft>
              <a:buSzPts val="1800"/>
              <a:buChar char="○"/>
            </a:pPr>
            <a:r>
              <a:rPr lang="en-US"/>
              <a:t>Dynamic Backend for different objects lending.</a:t>
            </a:r>
            <a:endParaRPr/>
          </a:p>
          <a:p>
            <a:pPr indent="-342900" lvl="1" marL="914400" rtl="0" algn="l">
              <a:spcBef>
                <a:spcPts val="0"/>
              </a:spcBef>
              <a:spcAft>
                <a:spcPts val="0"/>
              </a:spcAft>
              <a:buSzPts val="1800"/>
              <a:buChar char="○"/>
            </a:pPr>
            <a:r>
              <a:rPr lang="en-US"/>
              <a:t>Many distributed sites at Israeli beaches.</a:t>
            </a:r>
            <a:endParaRPr/>
          </a:p>
          <a:p>
            <a:pPr indent="-342900" lvl="1" marL="914400" rtl="0" algn="l">
              <a:spcBef>
                <a:spcPts val="0"/>
              </a:spcBef>
              <a:spcAft>
                <a:spcPts val="0"/>
              </a:spcAft>
              <a:buSzPts val="1800"/>
              <a:buChar char="○"/>
            </a:pPr>
            <a:r>
              <a:rPr lang="en-US"/>
              <a:t>Embedded hardware integration (lockers, sensors)</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g3a31adc4c07_1_30"/>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accent4"/>
              </a:buClr>
              <a:buSzPts val="4400"/>
              <a:buFont typeface="Calibri"/>
              <a:buNone/>
            </a:pPr>
            <a:r>
              <a:rPr lang="en-US">
                <a:solidFill>
                  <a:schemeClr val="accent4"/>
                </a:solidFill>
              </a:rPr>
              <a:t>Motivation</a:t>
            </a:r>
            <a:endParaRPr/>
          </a:p>
        </p:txBody>
      </p:sp>
      <p:sp>
        <p:nvSpPr>
          <p:cNvPr id="97" name="Google Shape;97;g3a31adc4c07_1_30"/>
          <p:cNvSpPr txBox="1"/>
          <p:nvPr>
            <p:ph idx="1" type="body"/>
          </p:nvPr>
        </p:nvSpPr>
        <p:spPr>
          <a:xfrm>
            <a:off x="674575" y="1575225"/>
            <a:ext cx="11370600" cy="5080800"/>
          </a:xfrm>
          <a:prstGeom prst="rect">
            <a:avLst/>
          </a:prstGeom>
          <a:noFill/>
          <a:ln>
            <a:noFill/>
          </a:ln>
        </p:spPr>
        <p:txBody>
          <a:bodyPr anchorCtr="0" anchor="t" bIns="45700" lIns="91425" spcFirstLastPara="1" rIns="91425" wrap="square" tIns="45700">
            <a:normAutofit lnSpcReduction="20000"/>
          </a:bodyPr>
          <a:lstStyle/>
          <a:p>
            <a:pPr indent="-268605" lvl="0" marL="228600" rtl="0" algn="l">
              <a:lnSpc>
                <a:spcPct val="90000"/>
              </a:lnSpc>
              <a:spcBef>
                <a:spcPts val="1000"/>
              </a:spcBef>
              <a:spcAft>
                <a:spcPts val="0"/>
              </a:spcAft>
              <a:buClr>
                <a:schemeClr val="dk1"/>
              </a:buClr>
              <a:buSzPts val="2800"/>
              <a:buChar char="•"/>
            </a:pPr>
            <a:r>
              <a:rPr lang="en-US"/>
              <a:t>Ido’s death, continue his way of life:</a:t>
            </a:r>
            <a:endParaRPr/>
          </a:p>
          <a:p>
            <a:pPr indent="0" lvl="0" marL="228600" rtl="1" algn="r">
              <a:lnSpc>
                <a:spcPct val="90000"/>
              </a:lnSpc>
              <a:spcBef>
                <a:spcPts val="1000"/>
              </a:spcBef>
              <a:spcAft>
                <a:spcPts val="0"/>
              </a:spcAft>
              <a:buNone/>
            </a:pPr>
            <a:r>
              <a:t/>
            </a:r>
            <a:endParaRPr/>
          </a:p>
          <a:p>
            <a:pPr indent="0" lvl="0" marL="2057400" rtl="1" algn="r">
              <a:lnSpc>
                <a:spcPct val="90000"/>
              </a:lnSpc>
              <a:spcBef>
                <a:spcPts val="1000"/>
              </a:spcBef>
              <a:spcAft>
                <a:spcPts val="0"/>
              </a:spcAft>
              <a:buNone/>
            </a:pPr>
            <a:r>
              <a:rPr lang="en-US"/>
              <a:t>אתה חייל? בטח אחי קח גלשן, סומך עליך</a:t>
            </a:r>
            <a:endParaRPr/>
          </a:p>
          <a:p>
            <a:pPr indent="0" lvl="0" marL="228600" rtl="0" algn="l">
              <a:lnSpc>
                <a:spcPct val="90000"/>
              </a:lnSpc>
              <a:spcBef>
                <a:spcPts val="1000"/>
              </a:spcBef>
              <a:spcAft>
                <a:spcPts val="0"/>
              </a:spcAft>
              <a:buNone/>
            </a:pPr>
            <a:r>
              <a:t/>
            </a:r>
            <a:endParaRPr/>
          </a:p>
          <a:p>
            <a:pPr indent="-268605" lvl="0" marL="228600" rtl="0" algn="l">
              <a:lnSpc>
                <a:spcPct val="90000"/>
              </a:lnSpc>
              <a:spcBef>
                <a:spcPts val="1000"/>
              </a:spcBef>
              <a:spcAft>
                <a:spcPts val="0"/>
              </a:spcAft>
              <a:buClr>
                <a:schemeClr val="dk1"/>
              </a:buClr>
              <a:buSzPts val="2800"/>
              <a:buChar char="•"/>
            </a:pPr>
            <a:r>
              <a:rPr lang="en-US"/>
              <a:t>Ambition to make scale largely: </a:t>
            </a:r>
            <a:endParaRPr/>
          </a:p>
          <a:p>
            <a:pPr indent="-292100" lvl="1" marL="685800" rtl="0" algn="l">
              <a:lnSpc>
                <a:spcPct val="90000"/>
              </a:lnSpc>
              <a:spcBef>
                <a:spcPts val="1000"/>
              </a:spcBef>
              <a:spcAft>
                <a:spcPts val="0"/>
              </a:spcAft>
              <a:buClr>
                <a:schemeClr val="dk1"/>
              </a:buClr>
              <a:buSzPts val="2800"/>
              <a:buChar char="•"/>
            </a:pPr>
            <a:r>
              <a:rPr lang="en-US"/>
              <a:t>allow more families to commemorate their fallen</a:t>
            </a:r>
            <a:endParaRPr/>
          </a:p>
          <a:p>
            <a:pPr indent="-292100" lvl="1" marL="685800" rtl="0" algn="l">
              <a:lnSpc>
                <a:spcPct val="90000"/>
              </a:lnSpc>
              <a:spcBef>
                <a:spcPts val="1000"/>
              </a:spcBef>
              <a:spcAft>
                <a:spcPts val="0"/>
              </a:spcAft>
              <a:buClr>
                <a:schemeClr val="dk1"/>
              </a:buClr>
              <a:buSzPts val="2800"/>
              <a:buChar char="•"/>
            </a:pPr>
            <a:r>
              <a:rPr lang="en-US"/>
              <a:t>expand to reach more soldiers</a:t>
            </a:r>
            <a:endParaRPr/>
          </a:p>
          <a:p>
            <a:pPr indent="0" lvl="0" marL="685800" rtl="0" algn="l">
              <a:lnSpc>
                <a:spcPct val="90000"/>
              </a:lnSpc>
              <a:spcBef>
                <a:spcPts val="1000"/>
              </a:spcBef>
              <a:spcAft>
                <a:spcPts val="0"/>
              </a:spcAft>
              <a:buNone/>
            </a:pPr>
            <a:r>
              <a:t/>
            </a:r>
            <a:endParaRPr/>
          </a:p>
          <a:p>
            <a:pPr indent="-268605" lvl="0" marL="228600" rtl="0" algn="l">
              <a:lnSpc>
                <a:spcPct val="90000"/>
              </a:lnSpc>
              <a:spcBef>
                <a:spcPts val="1000"/>
              </a:spcBef>
              <a:spcAft>
                <a:spcPts val="0"/>
              </a:spcAft>
              <a:buClr>
                <a:schemeClr val="dk1"/>
              </a:buClr>
              <a:buSzPts val="2800"/>
              <a:buChar char="•"/>
            </a:pPr>
            <a:r>
              <a:rPr lang="en-US"/>
              <a:t>Learn new </a:t>
            </a:r>
            <a:r>
              <a:rPr lang="en-US"/>
              <a:t>abilities</a:t>
            </a:r>
            <a:r>
              <a:rPr lang="en-US"/>
              <a:t> and create an end product to admire.</a:t>
            </a:r>
            <a:endParaRPr/>
          </a:p>
          <a:p>
            <a:pPr indent="0" lvl="0" marL="228600" rtl="0" algn="l">
              <a:lnSpc>
                <a:spcPct val="90000"/>
              </a:lnSpc>
              <a:spcBef>
                <a:spcPts val="1000"/>
              </a:spcBef>
              <a:spcAft>
                <a:spcPts val="0"/>
              </a:spcAft>
              <a:buNone/>
            </a:pPr>
            <a:r>
              <a:t/>
            </a:r>
            <a:endParaRPr/>
          </a:p>
          <a:p>
            <a:pPr indent="-268605" lvl="0" marL="228600" rtl="0" algn="l">
              <a:lnSpc>
                <a:spcPct val="90000"/>
              </a:lnSpc>
              <a:spcBef>
                <a:spcPts val="1000"/>
              </a:spcBef>
              <a:spcAft>
                <a:spcPts val="0"/>
              </a:spcAft>
              <a:buClr>
                <a:schemeClr val="dk1"/>
              </a:buClr>
              <a:buSzPts val="2800"/>
              <a:buChar char="•"/>
            </a:pPr>
            <a:r>
              <a:rPr lang="en-US"/>
              <a:t>Sentimental value to the project.</a:t>
            </a:r>
            <a:br>
              <a:rPr lang="en-US"/>
            </a:b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g3a31adc4c07_1_15"/>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accent4"/>
              </a:buClr>
              <a:buSzPts val="4400"/>
              <a:buFont typeface="Calibri"/>
              <a:buNone/>
            </a:pPr>
            <a:r>
              <a:rPr lang="en-US">
                <a:solidFill>
                  <a:schemeClr val="accent4"/>
                </a:solidFill>
              </a:rPr>
              <a:t>Goals</a:t>
            </a:r>
            <a:endParaRPr/>
          </a:p>
        </p:txBody>
      </p:sp>
      <p:sp>
        <p:nvSpPr>
          <p:cNvPr id="103" name="Google Shape;103;g3a31adc4c07_1_15"/>
          <p:cNvSpPr txBox="1"/>
          <p:nvPr>
            <p:ph idx="1" type="body"/>
          </p:nvPr>
        </p:nvSpPr>
        <p:spPr>
          <a:xfrm>
            <a:off x="661100" y="1690825"/>
            <a:ext cx="10515600" cy="4351200"/>
          </a:xfrm>
          <a:prstGeom prst="rect">
            <a:avLst/>
          </a:prstGeom>
          <a:noFill/>
          <a:ln>
            <a:noFill/>
          </a:ln>
        </p:spPr>
        <p:txBody>
          <a:bodyPr anchorCtr="0" anchor="t" bIns="45700" lIns="91425" spcFirstLastPara="1" rIns="91425" wrap="square" tIns="45700">
            <a:normAutofit/>
          </a:bodyPr>
          <a:lstStyle/>
          <a:p>
            <a:pPr indent="-342900" lvl="0" marL="457200" rtl="0" algn="l">
              <a:lnSpc>
                <a:spcPct val="90000"/>
              </a:lnSpc>
              <a:spcBef>
                <a:spcPts val="1000"/>
              </a:spcBef>
              <a:spcAft>
                <a:spcPts val="0"/>
              </a:spcAft>
              <a:buSzPts val="1800"/>
              <a:buChar char="●"/>
            </a:pPr>
            <a:r>
              <a:rPr lang="en-US"/>
              <a:t>Management</a:t>
            </a:r>
            <a:r>
              <a:rPr lang="en-US"/>
              <a:t> and monitoring</a:t>
            </a:r>
            <a:endParaRPr/>
          </a:p>
          <a:p>
            <a:pPr indent="-355600" lvl="1" marL="914400" rtl="0" algn="l">
              <a:spcBef>
                <a:spcPts val="0"/>
              </a:spcBef>
              <a:spcAft>
                <a:spcPts val="0"/>
              </a:spcAft>
              <a:buSzPts val="2000"/>
              <a:buChar char="○"/>
            </a:pPr>
            <a:r>
              <a:rPr lang="en-US" sz="2000"/>
              <a:t>Combine sensors to surfboards and cabinets</a:t>
            </a:r>
            <a:endParaRPr sz="2000"/>
          </a:p>
          <a:p>
            <a:pPr indent="-355600" lvl="1" marL="914400" rtl="0" algn="l">
              <a:spcBef>
                <a:spcPts val="0"/>
              </a:spcBef>
              <a:spcAft>
                <a:spcPts val="0"/>
              </a:spcAft>
              <a:buSzPts val="2000"/>
              <a:buChar char="○"/>
            </a:pPr>
            <a:r>
              <a:rPr lang="en-US" sz="2000"/>
              <a:t>Admin tools to monitor &amp; manage</a:t>
            </a:r>
            <a:endParaRPr/>
          </a:p>
          <a:p>
            <a:pPr indent="-342900" lvl="0" marL="457200" rtl="0" algn="l">
              <a:spcBef>
                <a:spcPts val="0"/>
              </a:spcBef>
              <a:spcAft>
                <a:spcPts val="0"/>
              </a:spcAft>
              <a:buSzPts val="1800"/>
              <a:buChar char="●"/>
            </a:pPr>
            <a:r>
              <a:rPr lang="en-US"/>
              <a:t>Distribution</a:t>
            </a:r>
            <a:endParaRPr/>
          </a:p>
          <a:p>
            <a:pPr indent="-342900" lvl="1" marL="914400" rtl="0" algn="l">
              <a:spcBef>
                <a:spcPts val="0"/>
              </a:spcBef>
              <a:spcAft>
                <a:spcPts val="0"/>
              </a:spcAft>
              <a:buSzPts val="1800"/>
              <a:buChar char="○"/>
            </a:pPr>
            <a:r>
              <a:rPr lang="en-US" sz="2000"/>
              <a:t>Many</a:t>
            </a:r>
            <a:r>
              <a:rPr lang="en-US" sz="2000"/>
              <a:t> surfboards</a:t>
            </a:r>
            <a:endParaRPr sz="2000"/>
          </a:p>
          <a:p>
            <a:pPr indent="-342900" lvl="1" marL="914400" rtl="0" algn="l">
              <a:spcBef>
                <a:spcPts val="0"/>
              </a:spcBef>
              <a:spcAft>
                <a:spcPts val="0"/>
              </a:spcAft>
              <a:buSzPts val="1800"/>
              <a:buChar char="○"/>
            </a:pPr>
            <a:r>
              <a:rPr lang="en-US" sz="2000"/>
              <a:t>Many cabinets</a:t>
            </a:r>
            <a:endParaRPr sz="2000"/>
          </a:p>
          <a:p>
            <a:pPr indent="-342900" lvl="1" marL="914400" rtl="0" algn="l">
              <a:spcBef>
                <a:spcPts val="0"/>
              </a:spcBef>
              <a:spcAft>
                <a:spcPts val="0"/>
              </a:spcAft>
              <a:buSzPts val="1800"/>
              <a:buChar char="○"/>
            </a:pPr>
            <a:r>
              <a:rPr lang="en-US" sz="2000"/>
              <a:t>Many sites</a:t>
            </a:r>
            <a:endParaRPr sz="2000"/>
          </a:p>
          <a:p>
            <a:pPr indent="-342900" lvl="0" marL="457200" rtl="0" algn="l">
              <a:lnSpc>
                <a:spcPct val="90000"/>
              </a:lnSpc>
              <a:spcBef>
                <a:spcPts val="0"/>
              </a:spcBef>
              <a:spcAft>
                <a:spcPts val="0"/>
              </a:spcAft>
              <a:buSzPts val="1800"/>
              <a:buChar char="●"/>
            </a:pPr>
            <a:r>
              <a:rPr lang="en-US"/>
              <a:t>Expansion</a:t>
            </a:r>
            <a:endParaRPr/>
          </a:p>
          <a:p>
            <a:pPr indent="-342900" lvl="1" marL="914400" rtl="0" algn="l">
              <a:lnSpc>
                <a:spcPct val="90000"/>
              </a:lnSpc>
              <a:spcBef>
                <a:spcPts val="0"/>
              </a:spcBef>
              <a:spcAft>
                <a:spcPts val="0"/>
              </a:spcAft>
              <a:buSzPts val="1800"/>
              <a:buChar char="○"/>
            </a:pPr>
            <a:r>
              <a:rPr lang="en-US" sz="2000"/>
              <a:t>Option to add and manage more items &amp; sites</a:t>
            </a:r>
            <a:endParaRPr sz="2000"/>
          </a:p>
          <a:p>
            <a:pPr indent="-342900" lvl="1" marL="914400" rtl="0" algn="l">
              <a:lnSpc>
                <a:spcPct val="90000"/>
              </a:lnSpc>
              <a:spcBef>
                <a:spcPts val="0"/>
              </a:spcBef>
              <a:spcAft>
                <a:spcPts val="0"/>
              </a:spcAft>
              <a:buSzPts val="1800"/>
              <a:buChar char="○"/>
            </a:pPr>
            <a:r>
              <a:rPr lang="en-US" sz="2000"/>
              <a:t>Option to manage other kinds of items &amp; storage.</a:t>
            </a:r>
            <a:endParaRPr sz="20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g3a31adc4c07_1_10"/>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accent4"/>
              </a:buClr>
              <a:buSzPts val="4400"/>
              <a:buFont typeface="Calibri"/>
              <a:buNone/>
            </a:pPr>
            <a:r>
              <a:rPr lang="en-US">
                <a:solidFill>
                  <a:schemeClr val="accent4"/>
                </a:solidFill>
              </a:rPr>
              <a:t>System Requirements</a:t>
            </a:r>
            <a:endParaRPr/>
          </a:p>
        </p:txBody>
      </p:sp>
      <p:sp>
        <p:nvSpPr>
          <p:cNvPr id="109" name="Google Shape;109;g3a31adc4c07_1_10"/>
          <p:cNvSpPr txBox="1"/>
          <p:nvPr>
            <p:ph idx="1" type="body"/>
          </p:nvPr>
        </p:nvSpPr>
        <p:spPr>
          <a:xfrm>
            <a:off x="838200" y="1825625"/>
            <a:ext cx="10515600" cy="4351200"/>
          </a:xfrm>
          <a:prstGeom prst="rect">
            <a:avLst/>
          </a:prstGeom>
          <a:noFill/>
          <a:ln>
            <a:noFill/>
          </a:ln>
        </p:spPr>
        <p:txBody>
          <a:bodyPr anchorCtr="0" anchor="t" bIns="45700" lIns="91425" spcFirstLastPara="1" rIns="91425" wrap="square" tIns="45700">
            <a:normAutofit/>
          </a:bodyPr>
          <a:lstStyle/>
          <a:p>
            <a:pPr indent="-268605" lvl="0" marL="228600" rtl="0" algn="l">
              <a:lnSpc>
                <a:spcPct val="90000"/>
              </a:lnSpc>
              <a:spcBef>
                <a:spcPts val="1000"/>
              </a:spcBef>
              <a:spcAft>
                <a:spcPts val="0"/>
              </a:spcAft>
              <a:buClr>
                <a:schemeClr val="dk1"/>
              </a:buClr>
              <a:buSzPts val="2800"/>
              <a:buChar char="•"/>
            </a:pPr>
            <a:r>
              <a:rPr lang="en-US" u="sng">
                <a:solidFill>
                  <a:schemeClr val="hlink"/>
                </a:solidFill>
                <a:hlinkClick r:id="rId3"/>
              </a:rPr>
              <a:t>Requirements</a:t>
            </a:r>
            <a:endParaRPr/>
          </a:p>
          <a:p>
            <a:pPr indent="0" lvl="0" marL="0" rtl="0" algn="l">
              <a:lnSpc>
                <a:spcPct val="90000"/>
              </a:lnSpc>
              <a:spcBef>
                <a:spcPts val="1000"/>
              </a:spcBef>
              <a:spcAft>
                <a:spcPts val="0"/>
              </a:spcAft>
              <a:buNone/>
            </a:pPr>
            <a:r>
              <a:t/>
            </a:r>
            <a:endParaRPr/>
          </a:p>
          <a:p>
            <a:pPr indent="-268605" lvl="0" marL="228600" rtl="0" algn="l">
              <a:lnSpc>
                <a:spcPct val="90000"/>
              </a:lnSpc>
              <a:spcBef>
                <a:spcPts val="1000"/>
              </a:spcBef>
              <a:spcAft>
                <a:spcPts val="0"/>
              </a:spcAft>
              <a:buClr>
                <a:schemeClr val="dk1"/>
              </a:buClr>
              <a:buSzPts val="2800"/>
              <a:buChar char="•"/>
            </a:pPr>
            <a:r>
              <a:rPr lang="en-US" u="sng">
                <a:solidFill>
                  <a:schemeClr val="hlink"/>
                </a:solidFill>
                <a:hlinkClick r:id="rId4"/>
              </a:rPr>
              <a:t>ARD</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pic>
        <p:nvPicPr>
          <p:cNvPr id="114" name="Google Shape;114;g3a7d18cd67d_0_0"/>
          <p:cNvPicPr preferRelativeResize="0"/>
          <p:nvPr/>
        </p:nvPicPr>
        <p:blipFill>
          <a:blip r:embed="rId3">
            <a:alphaModFix/>
          </a:blip>
          <a:stretch>
            <a:fillRect/>
          </a:stretch>
        </p:blipFill>
        <p:spPr>
          <a:xfrm>
            <a:off x="2878004" y="1570518"/>
            <a:ext cx="6447524" cy="4535650"/>
          </a:xfrm>
          <a:prstGeom prst="rect">
            <a:avLst/>
          </a:prstGeom>
          <a:noFill/>
          <a:ln>
            <a:noFill/>
          </a:ln>
        </p:spPr>
      </p:pic>
      <p:sp>
        <p:nvSpPr>
          <p:cNvPr id="115" name="Google Shape;115;g3a7d18cd67d_0_0"/>
          <p:cNvSpPr txBox="1"/>
          <p:nvPr>
            <p:ph type="title"/>
          </p:nvPr>
        </p:nvSpPr>
        <p:spPr>
          <a:xfrm>
            <a:off x="838200" y="365125"/>
            <a:ext cx="10515600" cy="963300"/>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1800"/>
              </a:spcBef>
              <a:spcAft>
                <a:spcPts val="600"/>
              </a:spcAft>
              <a:buClr>
                <a:schemeClr val="dk1"/>
              </a:buClr>
              <a:buSzPts val="1100"/>
              <a:buFont typeface="Arial"/>
              <a:buNone/>
            </a:pPr>
            <a:r>
              <a:rPr b="1" lang="en-US" sz="2200" u="sng">
                <a:latin typeface="Arial"/>
                <a:ea typeface="Arial"/>
                <a:cs typeface="Arial"/>
                <a:sym typeface="Arial"/>
              </a:rPr>
              <a:t>Server - user related</a:t>
            </a:r>
            <a:endParaRPr b="1" sz="5000" u="sng"/>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g3a7d18cd67d_0_13"/>
          <p:cNvSpPr txBox="1"/>
          <p:nvPr>
            <p:ph type="title"/>
          </p:nvPr>
        </p:nvSpPr>
        <p:spPr>
          <a:xfrm>
            <a:off x="838200" y="365125"/>
            <a:ext cx="10515600" cy="963300"/>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1800"/>
              </a:spcBef>
              <a:spcAft>
                <a:spcPts val="600"/>
              </a:spcAft>
              <a:buClr>
                <a:schemeClr val="dk1"/>
              </a:buClr>
              <a:buSzPts val="1100"/>
              <a:buFont typeface="Arial"/>
              <a:buNone/>
            </a:pPr>
            <a:r>
              <a:rPr b="1" lang="en-US" sz="2200" u="sng">
                <a:latin typeface="Arial"/>
                <a:ea typeface="Arial"/>
                <a:cs typeface="Arial"/>
                <a:sym typeface="Arial"/>
              </a:rPr>
              <a:t>Server - management related</a:t>
            </a:r>
            <a:endParaRPr b="1" sz="5000" u="sng"/>
          </a:p>
        </p:txBody>
      </p:sp>
      <p:pic>
        <p:nvPicPr>
          <p:cNvPr id="121" name="Google Shape;121;g3a7d18cd67d_0_13"/>
          <p:cNvPicPr preferRelativeResize="0"/>
          <p:nvPr/>
        </p:nvPicPr>
        <p:blipFill>
          <a:blip r:embed="rId3">
            <a:alphaModFix/>
          </a:blip>
          <a:stretch>
            <a:fillRect/>
          </a:stretch>
        </p:blipFill>
        <p:spPr>
          <a:xfrm>
            <a:off x="2255961" y="1515450"/>
            <a:ext cx="7697375" cy="46386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g3a7d18cd67d_0_19"/>
          <p:cNvSpPr txBox="1"/>
          <p:nvPr>
            <p:ph type="title"/>
          </p:nvPr>
        </p:nvSpPr>
        <p:spPr>
          <a:xfrm>
            <a:off x="838200" y="365125"/>
            <a:ext cx="10515600" cy="963300"/>
          </a:xfrm>
          <a:prstGeom prst="rect">
            <a:avLst/>
          </a:prstGeom>
          <a:noFill/>
          <a:ln>
            <a:noFill/>
          </a:ln>
        </p:spPr>
        <p:txBody>
          <a:bodyPr anchorCtr="0" anchor="ctr" bIns="45700" lIns="91425" spcFirstLastPara="1" rIns="91425" wrap="square" tIns="45700">
            <a:normAutofit/>
          </a:bodyPr>
          <a:lstStyle/>
          <a:p>
            <a:pPr indent="0" lvl="0" marL="0" rtl="0" algn="l">
              <a:lnSpc>
                <a:spcPct val="115000"/>
              </a:lnSpc>
              <a:spcBef>
                <a:spcPts val="1800"/>
              </a:spcBef>
              <a:spcAft>
                <a:spcPts val="600"/>
              </a:spcAft>
              <a:buClr>
                <a:schemeClr val="dk1"/>
              </a:buClr>
              <a:buSzPts val="1100"/>
              <a:buFont typeface="Arial"/>
              <a:buNone/>
            </a:pPr>
            <a:r>
              <a:rPr b="1" lang="en-US" sz="2200" u="sng">
                <a:latin typeface="Arial"/>
                <a:ea typeface="Arial"/>
                <a:cs typeface="Arial"/>
                <a:sym typeface="Arial"/>
              </a:rPr>
              <a:t>Performance &amp; Reliability &amp; Modularity</a:t>
            </a:r>
            <a:endParaRPr b="1" sz="5600" u="sng"/>
          </a:p>
        </p:txBody>
      </p:sp>
      <p:pic>
        <p:nvPicPr>
          <p:cNvPr id="127" name="Google Shape;127;g3a7d18cd67d_0_19"/>
          <p:cNvPicPr preferRelativeResize="0"/>
          <p:nvPr/>
        </p:nvPicPr>
        <p:blipFill>
          <a:blip r:embed="rId3">
            <a:alphaModFix/>
          </a:blip>
          <a:stretch>
            <a:fillRect/>
          </a:stretch>
        </p:blipFill>
        <p:spPr>
          <a:xfrm>
            <a:off x="2449963" y="1255975"/>
            <a:ext cx="7292083" cy="5224774"/>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sp>
        <p:nvSpPr>
          <p:cNvPr id="132" name="Google Shape;132;g3a31adc4c07_1_20"/>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accent4"/>
              </a:buClr>
              <a:buSzPts val="4400"/>
              <a:buFont typeface="Calibri"/>
              <a:buNone/>
            </a:pPr>
            <a:r>
              <a:rPr lang="en-US">
                <a:solidFill>
                  <a:schemeClr val="accent4"/>
                </a:solidFill>
              </a:rPr>
              <a:t>The Project’s Status Today</a:t>
            </a:r>
            <a:endParaRPr/>
          </a:p>
        </p:txBody>
      </p:sp>
      <p:sp>
        <p:nvSpPr>
          <p:cNvPr id="133" name="Google Shape;133;g3a31adc4c07_1_20"/>
          <p:cNvSpPr txBox="1"/>
          <p:nvPr>
            <p:ph idx="1" type="body"/>
          </p:nvPr>
        </p:nvSpPr>
        <p:spPr>
          <a:xfrm>
            <a:off x="838200" y="1825625"/>
            <a:ext cx="10515600" cy="4351200"/>
          </a:xfrm>
          <a:prstGeom prst="rect">
            <a:avLst/>
          </a:prstGeom>
          <a:noFill/>
          <a:ln>
            <a:noFill/>
          </a:ln>
        </p:spPr>
        <p:txBody>
          <a:bodyPr anchorCtr="0" anchor="t" bIns="45700" lIns="91425" spcFirstLastPara="1" rIns="91425" wrap="square" tIns="45700">
            <a:normAutofit/>
          </a:bodyPr>
          <a:lstStyle/>
          <a:p>
            <a:pPr indent="-268605" lvl="0" marL="228600" rtl="0" algn="l">
              <a:lnSpc>
                <a:spcPct val="90000"/>
              </a:lnSpc>
              <a:spcBef>
                <a:spcPts val="1000"/>
              </a:spcBef>
              <a:spcAft>
                <a:spcPts val="0"/>
              </a:spcAft>
              <a:buClr>
                <a:schemeClr val="dk1"/>
              </a:buClr>
              <a:buSzPts val="2800"/>
              <a:buChar char="•"/>
            </a:pPr>
            <a:r>
              <a:rPr lang="en-US"/>
              <a:t>Memorial site for Ido Aviv - </a:t>
            </a:r>
            <a:r>
              <a:rPr lang="en-US" u="sng">
                <a:solidFill>
                  <a:schemeClr val="hlink"/>
                </a:solidFill>
                <a:hlinkClick r:id="rId3"/>
              </a:rPr>
              <a:t>Link</a:t>
            </a:r>
            <a:endParaRPr u="sng">
              <a:solidFill>
                <a:schemeClr val="accent1"/>
              </a:solidFill>
            </a:endParaRPr>
          </a:p>
          <a:p>
            <a:pPr indent="-268605" lvl="0" marL="228600" rtl="0" algn="l">
              <a:lnSpc>
                <a:spcPct val="90000"/>
              </a:lnSpc>
              <a:spcBef>
                <a:spcPts val="1000"/>
              </a:spcBef>
              <a:spcAft>
                <a:spcPts val="0"/>
              </a:spcAft>
              <a:buClr>
                <a:schemeClr val="dk1"/>
              </a:buClr>
              <a:buSzPts val="2800"/>
              <a:buChar char="•"/>
            </a:pPr>
            <a:r>
              <a:rPr lang="en-US"/>
              <a:t>Surf club site (rent)- </a:t>
            </a:r>
            <a:r>
              <a:rPr lang="en-US" u="sng">
                <a:solidFill>
                  <a:schemeClr val="hlink"/>
                </a:solidFill>
                <a:highlight>
                  <a:schemeClr val="lt1"/>
                </a:highlight>
                <a:hlinkClick r:id="rId4"/>
              </a:rPr>
              <a:t>Link</a:t>
            </a:r>
            <a:endParaRPr u="sng">
              <a:solidFill>
                <a:schemeClr val="accent1"/>
              </a:solidFill>
              <a:highlight>
                <a:schemeClr val="lt1"/>
              </a:highlight>
            </a:endParaRPr>
          </a:p>
          <a:p>
            <a:pPr indent="-268605" lvl="0" marL="228600" rtl="0" algn="l">
              <a:lnSpc>
                <a:spcPct val="90000"/>
              </a:lnSpc>
              <a:spcBef>
                <a:spcPts val="1000"/>
              </a:spcBef>
              <a:spcAft>
                <a:spcPts val="0"/>
              </a:spcAft>
              <a:buClr>
                <a:schemeClr val="dk1"/>
              </a:buClr>
              <a:buSzPts val="2800"/>
              <a:buChar char="•"/>
            </a:pPr>
            <a:r>
              <a:rPr lang="en-US"/>
              <a:t>Prototype cabinet</a:t>
            </a:r>
            <a:endParaRPr/>
          </a:p>
          <a:p>
            <a:pPr indent="0" lvl="0" marL="228600" rtl="0" algn="l">
              <a:lnSpc>
                <a:spcPct val="90000"/>
              </a:lnSpc>
              <a:spcBef>
                <a:spcPts val="1000"/>
              </a:spcBef>
              <a:spcAft>
                <a:spcPts val="0"/>
              </a:spcAft>
              <a:buNone/>
            </a:pPr>
            <a:r>
              <a:rPr lang="en-US" u="sng">
                <a:solidFill>
                  <a:schemeClr val="hlink"/>
                </a:solidFill>
                <a:hlinkClick r:id="rId5"/>
              </a:rPr>
              <a:t>Cloud Diagram</a:t>
            </a:r>
            <a:endParaRPr/>
          </a:p>
        </p:txBody>
      </p:sp>
      <p:pic>
        <p:nvPicPr>
          <p:cNvPr id="134" name="Google Shape;134;g3a31adc4c07_1_20" title="הארון.jpg"/>
          <p:cNvPicPr preferRelativeResize="0"/>
          <p:nvPr/>
        </p:nvPicPr>
        <p:blipFill>
          <a:blip r:embed="rId6">
            <a:alphaModFix/>
          </a:blip>
          <a:stretch>
            <a:fillRect/>
          </a:stretch>
        </p:blipFill>
        <p:spPr>
          <a:xfrm>
            <a:off x="7608463" y="0"/>
            <a:ext cx="3855744" cy="6857999"/>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sp>
        <p:nvSpPr>
          <p:cNvPr id="139" name="Google Shape;139;g3a31adc4c07_1_25"/>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accent4"/>
              </a:buClr>
              <a:buSzPts val="4400"/>
              <a:buFont typeface="Calibri"/>
              <a:buNone/>
            </a:pPr>
            <a:r>
              <a:rPr lang="en-US">
                <a:solidFill>
                  <a:schemeClr val="accent4"/>
                </a:solidFill>
              </a:rPr>
              <a:t>Future Plan</a:t>
            </a:r>
            <a:endParaRPr>
              <a:solidFill>
                <a:srgbClr val="FF0000"/>
              </a:solidFill>
            </a:endParaRPr>
          </a:p>
        </p:txBody>
      </p:sp>
      <p:pic>
        <p:nvPicPr>
          <p:cNvPr id="140" name="Google Shape;140;g3a31adc4c07_1_25"/>
          <p:cNvPicPr preferRelativeResize="0"/>
          <p:nvPr/>
        </p:nvPicPr>
        <p:blipFill rotWithShape="1">
          <a:blip r:embed="rId3">
            <a:alphaModFix/>
          </a:blip>
          <a:srcRect b="0" l="0" r="0" t="0"/>
          <a:stretch/>
        </p:blipFill>
        <p:spPr>
          <a:xfrm>
            <a:off x="1309808" y="1456369"/>
            <a:ext cx="8287043" cy="5179402"/>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2023-06-18T12:05:44Z</dcterms:created>
  <dc:creator>רוברט מושקוביץ'</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0x0101009B09D47D9E93A4429F0CD6A06BF73F25</vt:lpwstr>
  </property>
  <property fmtid="{D5CDD505-2E9C-101B-9397-08002B2CF9AE}" pid="3" name="MediaServiceImageTags">
    <vt:lpwstr/>
  </property>
  <property fmtid="{D5CDD505-2E9C-101B-9397-08002B2CF9AE}" pid="4" name="xd_ProgID">
    <vt:lpwstr/>
  </property>
  <property fmtid="{D5CDD505-2E9C-101B-9397-08002B2CF9AE}" pid="5" name="ComplianceAssetId">
    <vt:lpwstr/>
  </property>
  <property fmtid="{D5CDD505-2E9C-101B-9397-08002B2CF9AE}" pid="6" name="TemplateUrl">
    <vt:lpwstr/>
  </property>
  <property fmtid="{D5CDD505-2E9C-101B-9397-08002B2CF9AE}" pid="7" name="_ExtendedDescription">
    <vt:lpwstr/>
  </property>
  <property fmtid="{D5CDD505-2E9C-101B-9397-08002B2CF9AE}" pid="8" name="TriggerFlowInfo">
    <vt:lpwstr/>
  </property>
  <property fmtid="{D5CDD505-2E9C-101B-9397-08002B2CF9AE}" pid="9" name="xd_Signature">
    <vt:bool>false</vt:bool>
  </property>
</Properties>
</file>