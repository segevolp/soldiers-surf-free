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bold r:id="rId18"/>
      <p:boldItalic r:id="rId19"/>
    </p:embeddedFont>
    <p:embeddedFont>
      <p:font typeface="Inter ExtraBold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faca54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faca54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4faca54e2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4faca54e2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faca54e2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faca54e2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5c807daa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5c807daa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faca54e2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faca54e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0689298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70689298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706892988_0_1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706892988_0_1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4faca54e2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4faca54e2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Soldiers Surf Free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20650" y="4782300"/>
            <a:ext cx="56622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660">
                <a:solidFill>
                  <a:schemeClr val="lt1"/>
                </a:solidFill>
                <a:highlight>
                  <a:schemeClr val="dk2"/>
                </a:highlight>
              </a:rPr>
              <a:t>Segev Olpak, Ofek Yabo, Dolev David, Guy Yehoshua</a:t>
            </a:r>
            <a:endParaRPr b="1" sz="1660">
              <a:solidFill>
                <a:schemeClr val="lt1"/>
              </a:solidFill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4"/>
          <p:cNvGrpSpPr/>
          <p:nvPr/>
        </p:nvGrpSpPr>
        <p:grpSpPr>
          <a:xfrm>
            <a:off x="400050" y="381000"/>
            <a:ext cx="8343900" cy="704850"/>
            <a:chOff x="0" y="0"/>
            <a:chExt cx="8343900" cy="70485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0" y="0"/>
              <a:ext cx="83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Landing Page &amp; Poster</a:t>
              </a:r>
              <a:endParaRPr b="0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0" y="666750"/>
              <a:ext cx="952500" cy="38100"/>
            </a:xfrm>
            <a:prstGeom prst="rect">
              <a:avLst/>
            </a:prstGeom>
            <a:solidFill>
              <a:srgbClr val="0097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400050" y="1238250"/>
            <a:ext cx="8343900" cy="476400"/>
            <a:chOff x="0" y="0"/>
            <a:chExt cx="8343900" cy="4764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8343900" cy="476400"/>
            </a:xfrm>
            <a:prstGeom prst="roundRect">
              <a:avLst>
                <a:gd fmla="val 16000" name="adj"/>
              </a:avLst>
            </a:prstGeom>
            <a:solidFill>
              <a:srgbClr val="F0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142875" y="0"/>
              <a:ext cx="8058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r>
                <a:rPr b="0" lang="en" sz="1400">
                  <a:solidFill>
                    <a:srgbClr val="0097A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https://segevolp.github.io/Soldiers-Surf-Free/</a:t>
              </a:r>
              <a:endParaRPr b="0" sz="1400">
                <a:solidFill>
                  <a:srgbClr val="0097A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400050" y="1905000"/>
            <a:ext cx="8343900" cy="3048000"/>
            <a:chOff x="0" y="0"/>
            <a:chExt cx="8343900" cy="3048000"/>
          </a:xfrm>
        </p:grpSpPr>
        <p:grpSp>
          <p:nvGrpSpPr>
            <p:cNvPr id="68" name="Google Shape;68;p14"/>
            <p:cNvGrpSpPr/>
            <p:nvPr/>
          </p:nvGrpSpPr>
          <p:grpSpPr>
            <a:xfrm>
              <a:off x="0" y="0"/>
              <a:ext cx="4000500" cy="952500"/>
              <a:chOff x="0" y="0"/>
              <a:chExt cx="4000500" cy="9525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142875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auto_stories</a:t>
                </a:r>
                <a:endParaRPr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1" name="Google Shape;71;p14"/>
              <p:cNvSpPr txBox="1"/>
              <p:nvPr/>
            </p:nvSpPr>
            <p:spPr>
              <a:xfrm>
                <a:off x="619125" y="9525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Public Memorial &amp; Marketing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Dedicated to Ido Aviv, telling the story behind the project.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>
              <a:off x="4343400" y="0"/>
              <a:ext cx="4000500" cy="952500"/>
              <a:chOff x="0" y="0"/>
              <a:chExt cx="4000500" cy="9525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 txBox="1"/>
              <p:nvPr/>
            </p:nvSpPr>
            <p:spPr>
              <a:xfrm>
                <a:off x="142875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dashboard</a:t>
                </a:r>
                <a:endParaRPr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5" name="Google Shape;75;p14"/>
              <p:cNvSpPr txBox="1"/>
              <p:nvPr/>
            </p:nvSpPr>
            <p:spPr>
              <a:xfrm>
                <a:off x="619125" y="9525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Platform Showcase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Vision, hardware, team, architecture, and three user dashboards.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76" name="Google Shape;76;p14"/>
            <p:cNvGrpSpPr/>
            <p:nvPr/>
          </p:nvGrpSpPr>
          <p:grpSpPr>
            <a:xfrm>
              <a:off x="0" y="1143000"/>
              <a:ext cx="4000500" cy="952500"/>
              <a:chOff x="0" y="0"/>
              <a:chExt cx="4000500" cy="952500"/>
            </a:xfrm>
          </p:grpSpPr>
          <p:sp>
            <p:nvSpPr>
              <p:cNvPr id="77" name="Google Shape;77;p14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4"/>
              <p:cNvSpPr txBox="1"/>
              <p:nvPr/>
            </p:nvSpPr>
            <p:spPr>
              <a:xfrm>
                <a:off x="142875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folder_special</a:t>
                </a:r>
                <a:endParaRPr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9" name="Google Shape;79;p14"/>
              <p:cNvSpPr txBox="1"/>
              <p:nvPr/>
            </p:nvSpPr>
            <p:spPr>
              <a:xfrm>
                <a:off x="619125" y="9525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Centralized Documentation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Hosts all documents (SRD, TDD, final report, demo video) in one place.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80" name="Google Shape;80;p14"/>
            <p:cNvGrpSpPr/>
            <p:nvPr/>
          </p:nvGrpSpPr>
          <p:grpSpPr>
            <a:xfrm>
              <a:off x="4343400" y="1143000"/>
              <a:ext cx="4000500" cy="952500"/>
              <a:chOff x="0" y="0"/>
              <a:chExt cx="4000500" cy="952500"/>
            </a:xfrm>
          </p:grpSpPr>
          <p:sp>
            <p:nvSpPr>
              <p:cNvPr id="81" name="Google Shape;81;p14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142875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3" name="Google Shape;83;p14"/>
              <p:cNvSpPr txBox="1"/>
              <p:nvPr/>
            </p:nvSpPr>
            <p:spPr>
              <a:xfrm>
                <a:off x="619125" y="9525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Open Source Access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Direct links to the live system and the open-source GitHub repository.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84" name="Google Shape;84;p14"/>
            <p:cNvGrpSpPr/>
            <p:nvPr/>
          </p:nvGrpSpPr>
          <p:grpSpPr>
            <a:xfrm>
              <a:off x="0" y="2286000"/>
              <a:ext cx="8343900" cy="762000"/>
              <a:chOff x="0" y="0"/>
              <a:chExt cx="8343900" cy="762000"/>
            </a:xfrm>
          </p:grpSpPr>
          <p:sp>
            <p:nvSpPr>
              <p:cNvPr id="85" name="Google Shape;85;p14"/>
              <p:cNvSpPr/>
              <p:nvPr/>
            </p:nvSpPr>
            <p:spPr>
              <a:xfrm>
                <a:off x="0" y="0"/>
                <a:ext cx="83439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0F9FA"/>
              </a:solidFill>
              <a:ln cap="flat" cmpd="sng" w="9525">
                <a:solidFill>
                  <a:srgbClr val="0097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 txBox="1"/>
              <p:nvPr/>
            </p:nvSpPr>
            <p:spPr>
              <a:xfrm>
                <a:off x="142875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palette</a:t>
                </a:r>
                <a:endParaRPr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" name="Google Shape;87;p14"/>
              <p:cNvSpPr txBox="1"/>
              <p:nvPr/>
            </p:nvSpPr>
            <p:spPr>
              <a:xfrm>
                <a:off x="619125" y="95250"/>
                <a:ext cx="7581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Single-file responsive design with an ocean-inspired visual identity, hosted on GitHub Pages.</a:t>
                </a:r>
                <a:endParaRPr b="0" sz="12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5"/>
          <p:cNvGrpSpPr/>
          <p:nvPr/>
        </p:nvGrpSpPr>
        <p:grpSpPr>
          <a:xfrm>
            <a:off x="400050" y="381000"/>
            <a:ext cx="8343900" cy="704850"/>
            <a:chOff x="0" y="0"/>
            <a:chExt cx="8343900" cy="704850"/>
          </a:xfrm>
        </p:grpSpPr>
        <p:sp>
          <p:nvSpPr>
            <p:cNvPr id="93" name="Google Shape;93;p15"/>
            <p:cNvSpPr txBox="1"/>
            <p:nvPr/>
          </p:nvSpPr>
          <p:spPr>
            <a:xfrm>
              <a:off x="0" y="0"/>
              <a:ext cx="83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Borrow Flow Update</a:t>
              </a:r>
              <a:endParaRPr b="0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0" y="666750"/>
              <a:ext cx="952500" cy="38100"/>
            </a:xfrm>
            <a:prstGeom prst="rect">
              <a:avLst/>
            </a:prstGeom>
            <a:solidFill>
              <a:srgbClr val="0097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00050" y="1333500"/>
            <a:ext cx="4048200" cy="952500"/>
            <a:chOff x="0" y="0"/>
            <a:chExt cx="4048200" cy="952500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40482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142875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619125" y="95250"/>
              <a:ext cx="3286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Reservation Mechanism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5-minute lock to prevent race conditions during concurrent borrow attempts.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4695825" y="1333500"/>
            <a:ext cx="4048200" cy="952500"/>
            <a:chOff x="0" y="0"/>
            <a:chExt cx="4048200" cy="9525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40482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142875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619125" y="95250"/>
              <a:ext cx="3286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Enhanced Security Guards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Strict validation ensures users successfully complete every mandatory step.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400050" y="2476500"/>
            <a:ext cx="8343900" cy="2286000"/>
            <a:chOff x="0" y="0"/>
            <a:chExt cx="8343900" cy="2286000"/>
          </a:xfrm>
        </p:grpSpPr>
        <p:sp>
          <p:nvSpPr>
            <p:cNvPr id="104" name="Google Shape;104;p15"/>
            <p:cNvSpPr/>
            <p:nvPr/>
          </p:nvSpPr>
          <p:spPr>
            <a:xfrm>
              <a:off x="0" y="0"/>
              <a:ext cx="8343900" cy="2286000"/>
            </a:xfrm>
            <a:prstGeom prst="roundRect">
              <a:avLst>
                <a:gd fmla="val 5000" name="adj"/>
              </a:avLst>
            </a:prstGeom>
            <a:solidFill>
              <a:srgbClr val="F0F9FA"/>
            </a:solidFill>
            <a:ln cap="flat" cmpd="sng" w="9525">
              <a:solidFill>
                <a:srgbClr val="009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90500" y="142875"/>
              <a:ext cx="796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97A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Revised PDF Behavior Workflow</a:t>
              </a:r>
              <a:endParaRPr b="0" sz="1400">
                <a:solidFill>
                  <a:srgbClr val="0097A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90500" y="523875"/>
              <a:ext cx="2476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97A7"/>
                  </a:solidFill>
                  <a:latin typeface="Inter"/>
                  <a:ea typeface="Inter"/>
                  <a:cs typeface="Inter"/>
                  <a:sym typeface="Inter"/>
                </a:rPr>
                <a:t>1. Download Phase</a:t>
              </a:r>
              <a:endParaRPr b="1" sz="1100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Fetch template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Inject user credentials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Upload to short-lived S3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Send pre-signed URL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2857500" y="523875"/>
              <a:ext cx="2476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97A7"/>
                  </a:solidFill>
                  <a:latin typeface="Inter"/>
                  <a:ea typeface="Inter"/>
                  <a:cs typeface="Inter"/>
                  <a:sym typeface="Inter"/>
                </a:rPr>
                <a:t>2. Accept Phase</a:t>
              </a:r>
              <a:endParaRPr b="1" sz="1100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Record transaction in DB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5524500" y="523875"/>
              <a:ext cx="2628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97A7"/>
                  </a:solidFill>
                  <a:latin typeface="Inter"/>
                  <a:ea typeface="Inter"/>
                  <a:cs typeface="Inter"/>
                  <a:sym typeface="Inter"/>
                </a:rPr>
                <a:t>3. Start Borrow Phase</a:t>
              </a:r>
              <a:endParaRPr b="1" sz="1100">
                <a:solidFill>
                  <a:srgbClr val="0097A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Verify acceptance status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Download PDF from S3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Email signed PDF to user</a:t>
              </a:r>
              <a:endParaRPr b="0" sz="10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311700" y="381000"/>
            <a:ext cx="8520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Performance Optimizations</a:t>
            </a:r>
            <a:endParaRPr b="0"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14" name="Google Shape;114;p16"/>
          <p:cNvGrpSpPr/>
          <p:nvPr/>
        </p:nvGrpSpPr>
        <p:grpSpPr>
          <a:xfrm>
            <a:off x="400050" y="1333500"/>
            <a:ext cx="8343900" cy="2737104"/>
            <a:chOff x="400050" y="1333500"/>
            <a:chExt cx="8343900" cy="2737104"/>
          </a:xfrm>
        </p:grpSpPr>
        <p:grpSp>
          <p:nvGrpSpPr>
            <p:cNvPr id="115" name="Google Shape;115;p16"/>
            <p:cNvGrpSpPr/>
            <p:nvPr/>
          </p:nvGrpSpPr>
          <p:grpSpPr>
            <a:xfrm>
              <a:off x="400050" y="1333500"/>
              <a:ext cx="4000500" cy="832104"/>
              <a:chOff x="400050" y="1333500"/>
              <a:chExt cx="4000500" cy="832104"/>
            </a:xfrm>
          </p:grpSpPr>
          <p:sp>
            <p:nvSpPr>
              <p:cNvPr id="116" name="Google Shape;116;p16"/>
              <p:cNvSpPr/>
              <p:nvPr/>
            </p:nvSpPr>
            <p:spPr>
              <a:xfrm>
                <a:off x="400050" y="133350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 txBox="1"/>
              <p:nvPr/>
            </p:nvSpPr>
            <p:spPr>
              <a:xfrm>
                <a:off x="590550" y="1403604"/>
                <a:ext cx="381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8" name="Google Shape;118;p16"/>
              <p:cNvSpPr txBox="1"/>
              <p:nvPr/>
            </p:nvSpPr>
            <p:spPr>
              <a:xfrm>
                <a:off x="1047750" y="133350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Added frontend route-level lazy loading for faster initial paint.</a:t>
                </a:r>
                <a:endParaRPr b="0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19" name="Google Shape;119;p16"/>
            <p:cNvGrpSpPr/>
            <p:nvPr/>
          </p:nvGrpSpPr>
          <p:grpSpPr>
            <a:xfrm>
              <a:off x="4743450" y="1333500"/>
              <a:ext cx="4000500" cy="832104"/>
              <a:chOff x="4743450" y="1333500"/>
              <a:chExt cx="4000500" cy="832104"/>
            </a:xfrm>
          </p:grpSpPr>
          <p:sp>
            <p:nvSpPr>
              <p:cNvPr id="120" name="Google Shape;120;p16"/>
              <p:cNvSpPr/>
              <p:nvPr/>
            </p:nvSpPr>
            <p:spPr>
              <a:xfrm>
                <a:off x="4743450" y="133350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4933950" y="1403604"/>
                <a:ext cx="381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bug_report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5391150" y="133350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Eliminated N+1 query behaviors to optimize backend processing.</a:t>
                </a:r>
                <a:endParaRPr b="0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400050" y="2286000"/>
              <a:ext cx="4000500" cy="832104"/>
              <a:chOff x="400050" y="2286000"/>
              <a:chExt cx="4000500" cy="832104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400050" y="228600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 txBox="1"/>
              <p:nvPr/>
            </p:nvSpPr>
            <p:spPr>
              <a:xfrm>
                <a:off x="590550" y="2356104"/>
                <a:ext cx="381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swap_horiz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6" name="Google Shape;126;p16"/>
              <p:cNvSpPr txBox="1"/>
              <p:nvPr/>
            </p:nvSpPr>
            <p:spPr>
              <a:xfrm>
                <a:off x="1047750" y="228600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Streamlined API structure to minimize redundant DB I/O calls.</a:t>
                </a:r>
                <a:endParaRPr b="0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27" name="Google Shape;127;p16"/>
            <p:cNvGrpSpPr/>
            <p:nvPr/>
          </p:nvGrpSpPr>
          <p:grpSpPr>
            <a:xfrm>
              <a:off x="4743450" y="2286000"/>
              <a:ext cx="4000500" cy="832104"/>
              <a:chOff x="4743450" y="2286000"/>
              <a:chExt cx="4000500" cy="832104"/>
            </a:xfrm>
          </p:grpSpPr>
          <p:sp>
            <p:nvSpPr>
              <p:cNvPr id="128" name="Google Shape;128;p16"/>
              <p:cNvSpPr/>
              <p:nvPr/>
            </p:nvSpPr>
            <p:spPr>
              <a:xfrm>
                <a:off x="4743450" y="228600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4933950" y="2356104"/>
                <a:ext cx="381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5391150" y="228600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Implemented DB Indexes for frequently queried data fields.</a:t>
                </a:r>
                <a:endParaRPr b="0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31" name="Google Shape;131;p16"/>
            <p:cNvGrpSpPr/>
            <p:nvPr/>
          </p:nvGrpSpPr>
          <p:grpSpPr>
            <a:xfrm>
              <a:off x="400050" y="3238500"/>
              <a:ext cx="4000500" cy="832104"/>
              <a:chOff x="400050" y="3238500"/>
              <a:chExt cx="4000500" cy="832104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400050" y="323850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590550" y="3308604"/>
                <a:ext cx="381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cached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1047750" y="323850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Optimized asset delivery through frontend resource caching.</a:t>
                </a:r>
                <a:endParaRPr b="0" sz="13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cxnSp>
        <p:nvCxnSpPr>
          <p:cNvPr id="135" name="Google Shape;135;p16"/>
          <p:cNvCxnSpPr/>
          <p:nvPr/>
        </p:nvCxnSpPr>
        <p:spPr>
          <a:xfrm>
            <a:off x="400050" y="1047750"/>
            <a:ext cx="9525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&amp; Production Envs</a:t>
            </a:r>
            <a:endParaRPr/>
          </a:p>
        </p:txBody>
      </p:sp>
      <p:pic>
        <p:nvPicPr>
          <p:cNvPr id="141" name="Google Shape;141;p17" title="Screenshot 2026-05-31 at 23.11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0525"/>
            <a:ext cx="837625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8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147" name="Google Shape;147;p18"/>
            <p:cNvSpPr/>
            <p:nvPr/>
          </p:nvSpPr>
          <p:spPr>
            <a:xfrm>
              <a:off x="476250" y="104775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0097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381000" y="38100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Continuous Deployment (CD)</a:t>
              </a:r>
              <a:endParaRPr b="0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381000" y="1524000"/>
            <a:ext cx="8382150" cy="2762175"/>
            <a:chOff x="381000" y="1524000"/>
            <a:chExt cx="8382150" cy="2762175"/>
          </a:xfrm>
        </p:grpSpPr>
        <p:grpSp>
          <p:nvGrpSpPr>
            <p:cNvPr id="150" name="Google Shape;150;p18"/>
            <p:cNvGrpSpPr/>
            <p:nvPr/>
          </p:nvGrpSpPr>
          <p:grpSpPr>
            <a:xfrm>
              <a:off x="381000" y="1524000"/>
              <a:ext cx="4095900" cy="1285800"/>
              <a:chOff x="381000" y="1524000"/>
              <a:chExt cx="4095900" cy="1285800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381000" y="1524000"/>
                <a:ext cx="4095900" cy="1285800"/>
              </a:xfrm>
              <a:prstGeom prst="roundRect">
                <a:avLst>
                  <a:gd fmla="val 8889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 txBox="1"/>
              <p:nvPr/>
            </p:nvSpPr>
            <p:spPr>
              <a:xfrm>
                <a:off x="1047750" y="1524000"/>
                <a:ext cx="3238500" cy="12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Dual-Pipeline Architecture</a:t>
                </a:r>
                <a:endParaRPr b="1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Automated split: Frontend managed by AWS Amplify and Backend via GitHub Actions.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53" name="Google Shape;153;p18"/>
              <p:cNvSpPr txBox="1"/>
              <p:nvPr/>
            </p:nvSpPr>
            <p:spPr>
              <a:xfrm>
                <a:off x="571500" y="1701927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account_tree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54" name="Google Shape;154;p18"/>
            <p:cNvGrpSpPr/>
            <p:nvPr/>
          </p:nvGrpSpPr>
          <p:grpSpPr>
            <a:xfrm>
              <a:off x="4667250" y="1524000"/>
              <a:ext cx="4095900" cy="1285800"/>
              <a:chOff x="4667250" y="1524000"/>
              <a:chExt cx="4095900" cy="1285800"/>
            </a:xfrm>
          </p:grpSpPr>
          <p:sp>
            <p:nvSpPr>
              <p:cNvPr id="155" name="Google Shape;155;p18"/>
              <p:cNvSpPr/>
              <p:nvPr/>
            </p:nvSpPr>
            <p:spPr>
              <a:xfrm>
                <a:off x="4667250" y="1524000"/>
                <a:ext cx="4095900" cy="1285800"/>
              </a:xfrm>
              <a:prstGeom prst="roundRect">
                <a:avLst>
                  <a:gd fmla="val 8889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8"/>
              <p:cNvSpPr txBox="1"/>
              <p:nvPr/>
            </p:nvSpPr>
            <p:spPr>
              <a:xfrm>
                <a:off x="5334000" y="1524000"/>
                <a:ext cx="3238500" cy="12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Environment-Aware Routing</a:t>
                </a:r>
                <a:endParaRPr b="1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Smart branch mapping: 'development' deploys to Dev environment, 'main' to Production.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4857750" y="1701927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alt_route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58" name="Google Shape;158;p18"/>
            <p:cNvGrpSpPr/>
            <p:nvPr/>
          </p:nvGrpSpPr>
          <p:grpSpPr>
            <a:xfrm>
              <a:off x="381000" y="3000375"/>
              <a:ext cx="4095900" cy="1285800"/>
              <a:chOff x="381000" y="3000375"/>
              <a:chExt cx="4095900" cy="1285800"/>
            </a:xfrm>
          </p:grpSpPr>
          <p:sp>
            <p:nvSpPr>
              <p:cNvPr id="159" name="Google Shape;159;p18"/>
              <p:cNvSpPr/>
              <p:nvPr/>
            </p:nvSpPr>
            <p:spPr>
              <a:xfrm>
                <a:off x="381000" y="3000375"/>
                <a:ext cx="4095900" cy="1285800"/>
              </a:xfrm>
              <a:prstGeom prst="roundRect">
                <a:avLst>
                  <a:gd fmla="val 8889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8"/>
              <p:cNvSpPr txBox="1"/>
              <p:nvPr/>
            </p:nvSpPr>
            <p:spPr>
              <a:xfrm>
                <a:off x="1047750" y="3000375"/>
                <a:ext cx="3238500" cy="12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Backend Quality Gates</a:t>
                </a:r>
                <a:endParaRPr b="1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Pre-deployment validation: GitHub Actions spins up temporary PostgreSQL for full test suite execution.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61" name="Google Shape;161;p18"/>
              <p:cNvSpPr txBox="1"/>
              <p:nvPr/>
            </p:nvSpPr>
            <p:spPr>
              <a:xfrm>
                <a:off x="571500" y="3178302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security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162" name="Google Shape;162;p18"/>
            <p:cNvGrpSpPr/>
            <p:nvPr/>
          </p:nvGrpSpPr>
          <p:grpSpPr>
            <a:xfrm>
              <a:off x="4667250" y="3000375"/>
              <a:ext cx="4095900" cy="1285800"/>
              <a:chOff x="4667250" y="3000375"/>
              <a:chExt cx="4095900" cy="1285800"/>
            </a:xfrm>
          </p:grpSpPr>
          <p:sp>
            <p:nvSpPr>
              <p:cNvPr id="163" name="Google Shape;163;p18"/>
              <p:cNvSpPr/>
              <p:nvPr/>
            </p:nvSpPr>
            <p:spPr>
              <a:xfrm>
                <a:off x="4667250" y="3000375"/>
                <a:ext cx="4095900" cy="1285800"/>
              </a:xfrm>
              <a:prstGeom prst="roundRect">
                <a:avLst>
                  <a:gd fmla="val 8889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8"/>
              <p:cNvSpPr txBox="1"/>
              <p:nvPr/>
            </p:nvSpPr>
            <p:spPr>
              <a:xfrm>
                <a:off x="5334000" y="3000375"/>
                <a:ext cx="3238500" cy="1285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Full Infra &amp; DB Delivery</a:t>
                </a:r>
                <a:endParaRPr b="1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Beyond code: Automated Alembic DB migrations and infrastructure deployment via SAM tool.</a:t>
                </a:r>
                <a:endParaRPr b="0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65" name="Google Shape;165;p18"/>
              <p:cNvSpPr txBox="1"/>
              <p:nvPr/>
            </p:nvSpPr>
            <p:spPr>
              <a:xfrm>
                <a:off x="4857750" y="3178302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0097A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settings_suggest</a:t>
                </a:r>
                <a:endParaRPr b="0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9"/>
          <p:cNvGrpSpPr/>
          <p:nvPr/>
        </p:nvGrpSpPr>
        <p:grpSpPr>
          <a:xfrm>
            <a:off x="762000" y="762000"/>
            <a:ext cx="8382000" cy="762000"/>
            <a:chOff x="381000" y="381000"/>
            <a:chExt cx="8382000" cy="762000"/>
          </a:xfrm>
        </p:grpSpPr>
        <p:sp>
          <p:nvSpPr>
            <p:cNvPr id="171" name="Google Shape;171;p19"/>
            <p:cNvSpPr txBox="1"/>
            <p:nvPr/>
          </p:nvSpPr>
          <p:spPr>
            <a:xfrm>
              <a:off x="381000" y="38100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Continuous Integration (CI)</a:t>
              </a:r>
              <a:endParaRPr b="0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476250" y="104775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0097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381000" y="1524000"/>
            <a:ext cx="4095900" cy="1285800"/>
            <a:chOff x="0" y="0"/>
            <a:chExt cx="4095900" cy="1285800"/>
          </a:xfrm>
        </p:grpSpPr>
        <p:sp>
          <p:nvSpPr>
            <p:cNvPr id="174" name="Google Shape;174;p19"/>
            <p:cNvSpPr txBox="1"/>
            <p:nvPr/>
          </p:nvSpPr>
          <p:spPr>
            <a:xfrm>
              <a:off x="190500" y="283083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spellcheck</a:t>
              </a:r>
              <a:endParaRPr b="0" i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0" y="0"/>
              <a:ext cx="4095900" cy="12858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666750" y="0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Code Quality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flake8 + mypy on the backend. No database, fails fast on lint/type errors.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7" name="Google Shape;177;p19"/>
          <p:cNvGrpSpPr/>
          <p:nvPr/>
        </p:nvGrpSpPr>
        <p:grpSpPr>
          <a:xfrm>
            <a:off x="9334500" y="3048000"/>
            <a:ext cx="4095900" cy="1285800"/>
            <a:chOff x="4667250" y="1524000"/>
            <a:chExt cx="4095900" cy="1285800"/>
          </a:xfrm>
        </p:grpSpPr>
        <p:sp>
          <p:nvSpPr>
            <p:cNvPr id="178" name="Google Shape;178;p19"/>
            <p:cNvSpPr/>
            <p:nvPr/>
          </p:nvSpPr>
          <p:spPr>
            <a:xfrm>
              <a:off x="4667250" y="1524000"/>
              <a:ext cx="4095900" cy="1285800"/>
            </a:xfrm>
            <a:prstGeom prst="roundRect">
              <a:avLst>
                <a:gd fmla="val 888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4857750" y="173697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5334000" y="1524000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Frontend Build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Node 22, npm ci, then npm run build to confirm the React/Vite app compiles.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4667250" y="1524000"/>
            <a:ext cx="4095900" cy="1285800"/>
            <a:chOff x="0" y="0"/>
            <a:chExt cx="4095900" cy="1285800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4095900" cy="12858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190500" y="248031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666750" y="0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Frontend Build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Node 22, npm ci, then npm run build to confirm the React/Vite app compiles.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762000" y="6000750"/>
            <a:ext cx="4095900" cy="1285800"/>
            <a:chOff x="381000" y="3000375"/>
            <a:chExt cx="4095900" cy="1285800"/>
          </a:xfrm>
        </p:grpSpPr>
        <p:sp>
          <p:nvSpPr>
            <p:cNvPr id="186" name="Google Shape;186;p19"/>
            <p:cNvSpPr/>
            <p:nvPr/>
          </p:nvSpPr>
          <p:spPr>
            <a:xfrm>
              <a:off x="381000" y="3000375"/>
              <a:ext cx="4095900" cy="1285800"/>
            </a:xfrm>
            <a:prstGeom prst="roundRect">
              <a:avLst>
                <a:gd fmla="val 888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571500" y="3213354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1047750" y="3000375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Automated Testing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Spins up Postgres 16, runs pytest with ≥ 80% coverage. Uploads results as artifacts.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381000" y="3000375"/>
            <a:ext cx="4095900" cy="1285800"/>
            <a:chOff x="0" y="0"/>
            <a:chExt cx="4095900" cy="1285800"/>
          </a:xfrm>
        </p:grpSpPr>
        <p:sp>
          <p:nvSpPr>
            <p:cNvPr id="190" name="Google Shape;190;p19"/>
            <p:cNvSpPr/>
            <p:nvPr/>
          </p:nvSpPr>
          <p:spPr>
            <a:xfrm>
              <a:off x="0" y="0"/>
              <a:ext cx="4095900" cy="12858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190500" y="248031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666750" y="0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Automated Testing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Spins up Postgres 16, runs pytest with ≥ 80% coverage. Uploads results as artifacts.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9334500" y="6000750"/>
            <a:ext cx="4095900" cy="1285800"/>
            <a:chOff x="4667250" y="3000375"/>
            <a:chExt cx="4095900" cy="1285800"/>
          </a:xfrm>
        </p:grpSpPr>
        <p:sp>
          <p:nvSpPr>
            <p:cNvPr id="194" name="Google Shape;194;p19"/>
            <p:cNvSpPr/>
            <p:nvPr/>
          </p:nvSpPr>
          <p:spPr>
            <a:xfrm>
              <a:off x="4667250" y="3000375"/>
              <a:ext cx="4095900" cy="1285800"/>
            </a:xfrm>
            <a:prstGeom prst="roundRect">
              <a:avLst>
                <a:gd fmla="val 8889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4857750" y="3213354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history_edu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5334000" y="3000375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Traceability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Reports even on failure. Fails build if test_index.json is stale to ensure sync.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7" name="Google Shape;197;p19"/>
          <p:cNvGrpSpPr/>
          <p:nvPr/>
        </p:nvGrpSpPr>
        <p:grpSpPr>
          <a:xfrm>
            <a:off x="4667250" y="3000375"/>
            <a:ext cx="4095900" cy="1285800"/>
            <a:chOff x="0" y="0"/>
            <a:chExt cx="4095900" cy="1285800"/>
          </a:xfrm>
        </p:grpSpPr>
        <p:sp>
          <p:nvSpPr>
            <p:cNvPr id="198" name="Google Shape;198;p19"/>
            <p:cNvSpPr/>
            <p:nvPr/>
          </p:nvSpPr>
          <p:spPr>
            <a:xfrm>
              <a:off x="0" y="0"/>
              <a:ext cx="4095900" cy="12858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190500" y="248031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09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history_edu</a:t>
              </a:r>
              <a:endParaRPr b="0" sz="2400">
                <a:solidFill>
                  <a:srgbClr val="009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666750" y="0"/>
              <a:ext cx="32385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Traceability</a:t>
              </a:r>
              <a:endParaRPr b="1" sz="13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Reports even on failure. Fails build if test_index.json is stale to ensure sync.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01" name="Google Shape;201;p19"/>
          <p:cNvSpPr txBox="1"/>
          <p:nvPr/>
        </p:nvSpPr>
        <p:spPr>
          <a:xfrm>
            <a:off x="97650" y="1740025"/>
            <a:ext cx="139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spellcheck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20"/>
          <p:cNvGrpSpPr/>
          <p:nvPr/>
        </p:nvGrpSpPr>
        <p:grpSpPr>
          <a:xfrm>
            <a:off x="381000" y="381000"/>
            <a:ext cx="8382000" cy="762000"/>
            <a:chOff x="0" y="0"/>
            <a:chExt cx="8382000" cy="762000"/>
          </a:xfrm>
        </p:grpSpPr>
        <p:sp>
          <p:nvSpPr>
            <p:cNvPr id="207" name="Google Shape;207;p20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A1A1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Tests &amp; Traceability</a:t>
              </a:r>
              <a:endParaRPr b="0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95250" y="666750"/>
              <a:ext cx="933600" cy="381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381000" y="1524000"/>
            <a:ext cx="4095900" cy="1428900"/>
            <a:chOff x="0" y="0"/>
            <a:chExt cx="4095900" cy="1428900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90500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chemeClr val="accent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b="0" sz="2400">
                <a:solidFill>
                  <a:schemeClr val="accent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666750" y="14287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Structured Docstrings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Validated fields: TEST, LAYER, USE_CASE, INTENT, WHY_IT_MATTERS, FAILURE_MEANS, DEPENDENCIES, LAST_REVIEWED.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4667250" y="1524000"/>
            <a:ext cx="4095900" cy="1428900"/>
            <a:chOff x="0" y="0"/>
            <a:chExt cx="4095900" cy="1428900"/>
          </a:xfrm>
        </p:grpSpPr>
        <p:sp>
          <p:nvSpPr>
            <p:cNvPr id="214" name="Google Shape;214;p20"/>
            <p:cNvSpPr/>
            <p:nvPr/>
          </p:nvSpPr>
          <p:spPr>
            <a:xfrm>
              <a:off x="0" y="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190500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chemeClr val="accent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b="0" sz="2400">
                <a:solidFill>
                  <a:schemeClr val="accent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666750" y="14287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Full Traceability Chain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Test Use Case (UC-X.X) Requirement (REQ-XXX)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381000" y="3143250"/>
            <a:ext cx="4095900" cy="1428900"/>
            <a:chOff x="0" y="0"/>
            <a:chExt cx="4095900" cy="1428900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190500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chemeClr val="accent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history_edu</a:t>
              </a:r>
              <a:endParaRPr b="0" sz="2400">
                <a:solidFill>
                  <a:schemeClr val="accent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666750" y="14287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CI Traceability Job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tests.yml regenerates the index; fails build if test_index.json is stale or references unknown Use Cases.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4667250" y="3143250"/>
            <a:ext cx="4095900" cy="1428900"/>
            <a:chOff x="0" y="0"/>
            <a:chExt cx="4095900" cy="1428900"/>
          </a:xfrm>
        </p:grpSpPr>
        <p:sp>
          <p:nvSpPr>
            <p:cNvPr id="222" name="Google Shape;222;p20"/>
            <p:cNvSpPr/>
            <p:nvPr/>
          </p:nvSpPr>
          <p:spPr>
            <a:xfrm>
              <a:off x="0" y="0"/>
              <a:ext cx="4095900" cy="14289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190500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chemeClr val="accent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b="0" sz="2400">
                <a:solidFill>
                  <a:schemeClr val="accent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666750" y="142875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Local Pre-commit Hook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Runs validation locally in ~2s. Catches sync issues before push without full test execution.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