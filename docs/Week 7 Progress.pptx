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  <p:embeddedFont>
      <p:font typeface="Maven Pro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avenPr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e1c73435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e1c73435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e1c734354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e1c734354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e1c734354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ae1c734354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916c0ef1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916c0ef1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e1c7343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ae1c7343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e1c73435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e1c73435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e1c73435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ae1c73435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e1c73435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ae1c73435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e1c734354_9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ae1c734354_9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spreadsheets/u/0/d/1ejUUHMswNtzBz0Xb5K2AJPZKBYJWNwd0J2LGulFbTSU/edit" TargetMode="External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Soldiers Surf Free	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Progress meeting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What </a:t>
            </a:r>
            <a:r>
              <a:rPr lang="iw"/>
              <a:t>we've</a:t>
            </a:r>
            <a:r>
              <a:rPr lang="iw"/>
              <a:t> done so far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w" sz="1100">
                <a:solidFill>
                  <a:schemeClr val="dk1"/>
                </a:solidFill>
              </a:rPr>
              <a:t>ERD </a:t>
            </a:r>
            <a:r>
              <a:rPr lang="iw" sz="1100">
                <a:solidFill>
                  <a:schemeClr val="dk1"/>
                </a:solidFill>
              </a:rPr>
              <a:t>design</a:t>
            </a:r>
            <a:r>
              <a:rPr lang="iw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w" sz="1100">
                <a:solidFill>
                  <a:schemeClr val="dk1"/>
                </a:solidFill>
              </a:rPr>
              <a:t>The search and research about hardware.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w" sz="1100">
                <a:solidFill>
                  <a:schemeClr val="dk1"/>
                </a:solidFill>
              </a:rPr>
              <a:t>Hardware order.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w" sz="1100">
                <a:solidFill>
                  <a:schemeClr val="dk1"/>
                </a:solidFill>
              </a:rPr>
              <a:t>Finding the right libraries for the hardware.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w" sz="1100">
                <a:solidFill>
                  <a:schemeClr val="dk1"/>
                </a:solidFill>
              </a:rPr>
              <a:t>Finding the right physical connections to the sensors.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w" sz="1100">
                <a:solidFill>
                  <a:schemeClr val="dk1"/>
                </a:solidFill>
              </a:rPr>
              <a:t>Github repository created.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w" sz="1100">
                <a:solidFill>
                  <a:schemeClr val="dk1"/>
                </a:solidFill>
              </a:rPr>
              <a:t>Basic </a:t>
            </a:r>
            <a:r>
              <a:rPr lang="iw" sz="1100">
                <a:solidFill>
                  <a:schemeClr val="dk1"/>
                </a:solidFill>
              </a:rPr>
              <a:t>infrastructure created.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w" sz="1100">
                <a:solidFill>
                  <a:schemeClr val="dk1"/>
                </a:solidFill>
              </a:rPr>
              <a:t>This presentation. :)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Hardware specification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0" name="Google Shape;290;p15"/>
          <p:cNvPicPr preferRelativeResize="0"/>
          <p:nvPr/>
        </p:nvPicPr>
        <p:blipFill rotWithShape="1">
          <a:blip r:embed="rId3">
            <a:alphaModFix/>
          </a:blip>
          <a:srcRect b="13668" l="0" r="0" t="26956"/>
          <a:stretch/>
        </p:blipFill>
        <p:spPr>
          <a:xfrm>
            <a:off x="173625" y="1979200"/>
            <a:ext cx="2622950" cy="15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5"/>
          <p:cNvPicPr preferRelativeResize="0"/>
          <p:nvPr/>
        </p:nvPicPr>
        <p:blipFill rotWithShape="1">
          <a:blip r:embed="rId4">
            <a:alphaModFix/>
          </a:blip>
          <a:srcRect b="0" l="0" r="32194" t="17560"/>
          <a:stretch/>
        </p:blipFill>
        <p:spPr>
          <a:xfrm>
            <a:off x="7635325" y="168575"/>
            <a:ext cx="1166925" cy="141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5"/>
          <p:cNvPicPr preferRelativeResize="0"/>
          <p:nvPr/>
        </p:nvPicPr>
        <p:blipFill rotWithShape="1">
          <a:blip r:embed="rId5">
            <a:alphaModFix/>
          </a:blip>
          <a:srcRect b="0" l="41349" r="0" t="0"/>
          <a:stretch/>
        </p:blipFill>
        <p:spPr>
          <a:xfrm>
            <a:off x="5605663" y="1979200"/>
            <a:ext cx="12290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5"/>
          <p:cNvPicPr preferRelativeResize="0"/>
          <p:nvPr/>
        </p:nvPicPr>
        <p:blipFill rotWithShape="1">
          <a:blip r:embed="rId6">
            <a:alphaModFix/>
          </a:blip>
          <a:srcRect b="11651" l="11223" r="11161" t="22896"/>
          <a:stretch/>
        </p:blipFill>
        <p:spPr>
          <a:xfrm>
            <a:off x="5804300" y="192150"/>
            <a:ext cx="1626325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5"/>
          <p:cNvPicPr preferRelativeResize="0"/>
          <p:nvPr/>
        </p:nvPicPr>
        <p:blipFill rotWithShape="1">
          <a:blip r:embed="rId7">
            <a:alphaModFix/>
          </a:blip>
          <a:srcRect b="22680" l="21694" r="22864" t="29420"/>
          <a:stretch/>
        </p:blipFill>
        <p:spPr>
          <a:xfrm>
            <a:off x="3299775" y="1979200"/>
            <a:ext cx="1802675" cy="15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5"/>
          <p:cNvPicPr preferRelativeResize="0"/>
          <p:nvPr/>
        </p:nvPicPr>
        <p:blipFill rotWithShape="1">
          <a:blip r:embed="rId8">
            <a:alphaModFix/>
          </a:blip>
          <a:srcRect b="7603" l="47688" r="0" t="11425"/>
          <a:stretch/>
        </p:blipFill>
        <p:spPr>
          <a:xfrm>
            <a:off x="7706025" y="3076475"/>
            <a:ext cx="1096225" cy="169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5"/>
          <p:cNvPicPr preferRelativeResize="0"/>
          <p:nvPr/>
        </p:nvPicPr>
        <p:blipFill rotWithShape="1">
          <a:blip r:embed="rId9">
            <a:alphaModFix/>
          </a:blip>
          <a:srcRect b="28601" l="0" r="17205" t="34637"/>
          <a:stretch/>
        </p:blipFill>
        <p:spPr>
          <a:xfrm>
            <a:off x="2146125" y="3582525"/>
            <a:ext cx="1302000" cy="1252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Architecture</a:t>
            </a:r>
            <a:endParaRPr/>
          </a:p>
        </p:txBody>
      </p:sp>
      <p:sp>
        <p:nvSpPr>
          <p:cNvPr id="302" name="Google Shape;302;p16"/>
          <p:cNvSpPr txBox="1"/>
          <p:nvPr>
            <p:ph idx="1" type="body"/>
          </p:nvPr>
        </p:nvSpPr>
        <p:spPr>
          <a:xfrm>
            <a:off x="547800" y="2377950"/>
            <a:ext cx="40242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>
                <a:solidFill>
                  <a:schemeClr val="dk1"/>
                </a:solidFill>
              </a:rPr>
              <a:t>architecture for python using-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w">
                <a:solidFill>
                  <a:schemeClr val="dk1"/>
                </a:solidFill>
              </a:rPr>
              <a:t>F</a:t>
            </a:r>
            <a:r>
              <a:rPr lang="iw">
                <a:solidFill>
                  <a:schemeClr val="dk1"/>
                </a:solidFill>
              </a:rPr>
              <a:t>lask API</a:t>
            </a:r>
            <a:br>
              <a:rPr lang="iw">
                <a:solidFill>
                  <a:schemeClr val="dk1"/>
                </a:solidFill>
              </a:rPr>
            </a:br>
            <a:r>
              <a:rPr lang="iw">
                <a:solidFill>
                  <a:schemeClr val="dk1"/>
                </a:solidFill>
              </a:rPr>
              <a:t>SQLAlchemy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03" name="Google Shape;3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8200" y="54550"/>
            <a:ext cx="3626525" cy="505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Alpha</a:t>
            </a:r>
            <a:endParaRPr/>
          </a:p>
        </p:txBody>
      </p:sp>
      <p:sp>
        <p:nvSpPr>
          <p:cNvPr id="309" name="Google Shape;309;p17"/>
          <p:cNvSpPr txBox="1"/>
          <p:nvPr>
            <p:ph idx="1" type="body"/>
          </p:nvPr>
        </p:nvSpPr>
        <p:spPr>
          <a:xfrm>
            <a:off x="558750" y="1346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w" sz="1100">
                <a:solidFill>
                  <a:schemeClr val="dk1"/>
                </a:solidFill>
              </a:rPr>
              <a:t>The initial Alpha Version focuses on delivering the end-to-end functionality required to validate the system's most complex and critical transaction: Borrowing a Surfboard.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w" sz="1100">
                <a:solidFill>
                  <a:schemeClr val="dk1"/>
                </a:solidFill>
              </a:rPr>
              <a:t>The alpha will include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iw" sz="1100">
                <a:solidFill>
                  <a:schemeClr val="dk1"/>
                </a:solidFill>
              </a:rPr>
              <a:t>Authentication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iw" sz="1100">
                <a:solidFill>
                  <a:schemeClr val="dk1"/>
                </a:solidFill>
              </a:rPr>
              <a:t> </a:t>
            </a:r>
            <a:r>
              <a:rPr lang="iw" sz="1100">
                <a:solidFill>
                  <a:schemeClr val="dk1"/>
                </a:solidFill>
              </a:rPr>
              <a:t>health and liability waiver.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iw" sz="1100">
                <a:solidFill>
                  <a:schemeClr val="dk1"/>
                </a:solidFill>
              </a:rPr>
              <a:t>User Management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iw" sz="1100">
                <a:solidFill>
                  <a:schemeClr val="dk1"/>
                </a:solidFill>
              </a:rPr>
              <a:t>User Login/Logout and new user creation.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iw" sz="1100">
                <a:solidFill>
                  <a:schemeClr val="dk1"/>
                </a:solidFill>
              </a:rPr>
              <a:t>Hardcoded First Admin user for system initialization.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iw" sz="1100">
                <a:solidFill>
                  <a:schemeClr val="dk1"/>
                </a:solidFill>
              </a:rPr>
              <a:t>Admin Grant/Revoke Permission Infrastructure (initial framework only).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iw" sz="1100">
                <a:solidFill>
                  <a:schemeClr val="dk1"/>
                </a:solidFill>
              </a:rPr>
              <a:t>Core Logic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iw" sz="1100">
                <a:solidFill>
                  <a:schemeClr val="dk1"/>
                </a:solidFill>
              </a:rPr>
              <a:t>Rental Session </a:t>
            </a:r>
            <a:r>
              <a:rPr lang="iw" sz="1100">
                <a:solidFill>
                  <a:schemeClr val="dk1"/>
                </a:solidFill>
              </a:rPr>
              <a:t>Initiation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iw" sz="1100">
                <a:solidFill>
                  <a:schemeClr val="dk1"/>
                </a:solidFill>
              </a:rPr>
              <a:t>Mock Hardware Setup - hardware already ordered, if arrives in time will not be mock.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iw">
                <a:solidFill>
                  <a:schemeClr val="dk1"/>
                </a:solidFill>
              </a:rPr>
              <a:t>Log infrastructure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Alpha</a:t>
            </a:r>
            <a:endParaRPr/>
          </a:p>
        </p:txBody>
      </p:sp>
      <p:sp>
        <p:nvSpPr>
          <p:cNvPr id="315" name="Google Shape;315;p18"/>
          <p:cNvSpPr txBox="1"/>
          <p:nvPr>
            <p:ph idx="1" type="body"/>
          </p:nvPr>
        </p:nvSpPr>
        <p:spPr>
          <a:xfrm>
            <a:off x="311700" y="1356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w" sz="1100">
                <a:solidFill>
                  <a:schemeClr val="dk1"/>
                </a:solidFill>
              </a:rPr>
              <a:t>The following features are considered by us to be  "Nice to Have" and are necessary for full operational readiness, but are </a:t>
            </a:r>
            <a:r>
              <a:rPr lang="iw" sz="1100">
                <a:solidFill>
                  <a:schemeClr val="dk1"/>
                </a:solidFill>
              </a:rPr>
              <a:t>deferred </a:t>
            </a:r>
            <a:r>
              <a:rPr lang="iw" sz="1100">
                <a:solidFill>
                  <a:schemeClr val="dk1"/>
                </a:solidFill>
              </a:rPr>
              <a:t>from the initial Alpha scope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iw" sz="1100">
                <a:solidFill>
                  <a:schemeClr val="dk1"/>
                </a:solidFill>
              </a:rPr>
              <a:t>Item Creation &amp; Configuration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iw" sz="1100">
                <a:solidFill>
                  <a:schemeClr val="dk1"/>
                </a:solidFill>
              </a:rPr>
              <a:t>Creating a new Item (Surfboard) Object in the system.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iw" sz="1100">
                <a:solidFill>
                  <a:schemeClr val="dk1"/>
                </a:solidFill>
              </a:rPr>
              <a:t>Creating a specific Surfboard Model.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iw" sz="1100">
                <a:solidFill>
                  <a:schemeClr val="dk1"/>
                </a:solidFill>
              </a:rPr>
              <a:t>Adding/Removing Items, Lockers, and Sites to the system.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iw" sz="1100">
                <a:solidFill>
                  <a:schemeClr val="dk1"/>
                </a:solidFill>
              </a:rPr>
              <a:t>Asset Assignment &amp; Tracking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iw" sz="1100">
                <a:solidFill>
                  <a:schemeClr val="dk1"/>
                </a:solidFill>
              </a:rPr>
              <a:t>Assigning/Unassigning Items to Lockers (and vice versa).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iw" sz="1100">
                <a:solidFill>
                  <a:schemeClr val="dk1"/>
                </a:solidFill>
              </a:rPr>
              <a:t>Assigning/Modifying a unique RFID Key for each Surfboard.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iw" sz="1100">
                <a:solidFill>
                  <a:schemeClr val="dk1"/>
                </a:solidFill>
              </a:rPr>
              <a:t>Site Configuration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iw" sz="1100">
                <a:solidFill>
                  <a:schemeClr val="dk1"/>
                </a:solidFill>
              </a:rPr>
              <a:t>Updating operational details for an Item, Locker, or Locker Site.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iw" sz="1100">
                <a:solidFill>
                  <a:schemeClr val="dk1"/>
                </a:solidFill>
              </a:rPr>
              <a:t>Modifying Locker Site Policies (e.g., operating hours).</a:t>
            </a:r>
            <a:endParaRPr sz="11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Challenges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9"/>
          <p:cNvSpPr txBox="1"/>
          <p:nvPr>
            <p:ph idx="1" type="body"/>
          </p:nvPr>
        </p:nvSpPr>
        <p:spPr>
          <a:xfrm>
            <a:off x="1056750" y="15978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w">
                <a:solidFill>
                  <a:schemeClr val="dk1"/>
                </a:solidFill>
              </a:rPr>
              <a:t>Implementing end to end use-case while developing infrastructure for the whole system.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w">
                <a:solidFill>
                  <a:schemeClr val="dk1"/>
                </a:solidFill>
              </a:rPr>
              <a:t>Simulate some external services (auth, cognito).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w">
                <a:solidFill>
                  <a:schemeClr val="dk1"/>
                </a:solidFill>
              </a:rPr>
              <a:t>Establish the connection between the server and the </a:t>
            </a:r>
            <a:r>
              <a:rPr lang="iw">
                <a:solidFill>
                  <a:schemeClr val="dk1"/>
                </a:solidFill>
              </a:rPr>
              <a:t>microcontroller</a:t>
            </a:r>
            <a:r>
              <a:rPr lang="iw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w">
                <a:solidFill>
                  <a:schemeClr val="dk1"/>
                </a:solidFill>
              </a:rPr>
              <a:t>Create a </a:t>
            </a:r>
            <a:r>
              <a:rPr lang="iw">
                <a:solidFill>
                  <a:schemeClr val="dk1"/>
                </a:solidFill>
              </a:rPr>
              <a:t>simulate hardware circuit.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w">
                <a:solidFill>
                  <a:schemeClr val="dk1"/>
                </a:solidFill>
              </a:rPr>
              <a:t>Making the main use case efficient for the user to use.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How to solve them</a:t>
            </a:r>
            <a:endParaRPr/>
          </a:p>
        </p:txBody>
      </p:sp>
      <p:sp>
        <p:nvSpPr>
          <p:cNvPr id="327" name="Google Shape;327;p20"/>
          <p:cNvSpPr txBox="1"/>
          <p:nvPr>
            <p:ph idx="1" type="body"/>
          </p:nvPr>
        </p:nvSpPr>
        <p:spPr>
          <a:xfrm>
            <a:off x="1056750" y="17195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w">
                <a:solidFill>
                  <a:schemeClr val="dk1"/>
                </a:solidFill>
              </a:rPr>
              <a:t>Implement the bases of the system while </a:t>
            </a:r>
            <a:r>
              <a:rPr lang="iw">
                <a:solidFill>
                  <a:schemeClr val="dk1"/>
                </a:solidFill>
              </a:rPr>
              <a:t>focusing</a:t>
            </a:r>
            <a:r>
              <a:rPr lang="iw">
                <a:solidFill>
                  <a:schemeClr val="dk1"/>
                </a:solidFill>
              </a:rPr>
              <a:t> on developing the main branch to gain an  end to end use-case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w">
                <a:solidFill>
                  <a:schemeClr val="dk1"/>
                </a:solidFill>
              </a:rPr>
              <a:t>Mock </a:t>
            </a:r>
            <a:r>
              <a:rPr lang="iw">
                <a:solidFill>
                  <a:schemeClr val="dk1"/>
                </a:solidFill>
              </a:rPr>
              <a:t>external</a:t>
            </a:r>
            <a:r>
              <a:rPr lang="iw">
                <a:solidFill>
                  <a:schemeClr val="dk1"/>
                </a:solidFill>
              </a:rPr>
              <a:t> services behaviour.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w">
                <a:solidFill>
                  <a:schemeClr val="dk1"/>
                </a:solidFill>
              </a:rPr>
              <a:t>Research about working with ESP32 and establish server - controller communication.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w">
                <a:solidFill>
                  <a:schemeClr val="dk1"/>
                </a:solidFill>
              </a:rPr>
              <a:t>Trial and error, order hardware redundancy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w">
                <a:solidFill>
                  <a:schemeClr val="dk1"/>
                </a:solidFill>
              </a:rPr>
              <a:t>Saving user credentials, health and liability waivers to guarantee the next time of trying to initiate a rental session will be faster.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u="sng">
                <a:solidFill>
                  <a:schemeClr val="hlink"/>
                </a:solidFill>
                <a:hlinkClick r:id="rId3"/>
              </a:rPr>
              <a:t>Gantt graph - Alpha</a:t>
            </a:r>
            <a:endParaRPr/>
          </a:p>
        </p:txBody>
      </p:sp>
      <p:sp>
        <p:nvSpPr>
          <p:cNvPr id="333" name="Google Shape;333;p2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334" name="Google Shape;33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400" y="1523125"/>
            <a:ext cx="7893200" cy="3050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Gantt graph - Beta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0" name="Google Shape;3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676" y="1437850"/>
            <a:ext cx="8154651" cy="287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