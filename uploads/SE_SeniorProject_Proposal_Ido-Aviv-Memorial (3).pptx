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61" r:id="rId8"/>
    <p:sldId id="259" r:id="rId9"/>
    <p:sldId id="260" r:id="rId10"/>
    <p:sldId id="265" r:id="rId11"/>
    <p:sldId id="262" r:id="rId12"/>
    <p:sldId id="266" r:id="rId13"/>
    <p:sldId id="263" r:id="rId14"/>
    <p:sldId id="267" r:id="rId15"/>
    <p:sldId id="264" r:id="rId16"/>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6327"/>
  </p:normalViewPr>
  <p:slideViewPr>
    <p:cSldViewPr snapToGrid="0">
      <p:cViewPr varScale="1">
        <p:scale>
          <a:sx n="73" d="100"/>
          <a:sy n="73" d="100"/>
        </p:scale>
        <p:origin x="31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46C4D-6AE5-2818-19A1-F575267BD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BAF9539-D295-CF13-12FE-1CE3B343F0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7F815B00-9577-6ADB-E103-723C34119067}"/>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5" name="Footer Placeholder 4">
            <a:extLst>
              <a:ext uri="{FF2B5EF4-FFF2-40B4-BE49-F238E27FC236}">
                <a16:creationId xmlns:a16="http://schemas.microsoft.com/office/drawing/2014/main" id="{BD0A79D7-03C4-20F3-742D-B6CED549B47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93233-2EA2-4829-6445-D2A39BA85865}"/>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787492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5722-2CC1-6C1B-D6CE-4388FC2CD9D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27EC026-26E4-26B5-894A-7BBF9D5D68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37A5FCE-DFE9-6949-D1D7-003C53FF8140}"/>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5" name="Footer Placeholder 4">
            <a:extLst>
              <a:ext uri="{FF2B5EF4-FFF2-40B4-BE49-F238E27FC236}">
                <a16:creationId xmlns:a16="http://schemas.microsoft.com/office/drawing/2014/main" id="{16EF1218-069F-2E3B-1F00-B287789C461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F98DAEB-62F9-E597-3201-BCC230937F20}"/>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054402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AF7A-C86B-7501-5646-AF29B0735E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D54C0CB0-58BB-7CF4-E7D0-123818702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5063DC-B744-C4F7-AB71-396D5B4FE237}"/>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5" name="Footer Placeholder 4">
            <a:extLst>
              <a:ext uri="{FF2B5EF4-FFF2-40B4-BE49-F238E27FC236}">
                <a16:creationId xmlns:a16="http://schemas.microsoft.com/office/drawing/2014/main" id="{1CB1FD35-C457-7131-0D7C-B419680D240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FA9E4E0-72D6-1521-1321-DCB93669312C}"/>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493397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4B21-C61F-51F0-01D4-F03521EA29F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9235B2C-E26E-2F7D-D233-2A30E61F81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EDFECDE-9A7C-3FA1-6222-21EFF86970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4266E198-9BDD-F503-A60A-67BC58160DC1}"/>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6" name="Footer Placeholder 5">
            <a:extLst>
              <a:ext uri="{FF2B5EF4-FFF2-40B4-BE49-F238E27FC236}">
                <a16:creationId xmlns:a16="http://schemas.microsoft.com/office/drawing/2014/main" id="{469CE2A5-B382-7332-9A69-5396A77315A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0DF4C44-958F-5361-EC83-AC5A15F74EC8}"/>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120367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DECD0-9F0F-CF05-0516-42511894436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12392A8-16C9-1169-25EB-29BFDC3972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87AF6B-CE3A-3E90-0C60-93BEA8E0D2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2EAB4E6B-9D8A-0D90-8468-B5D7F029D1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054DB6-17C4-6007-E324-6121B7CC48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6A1F47D8-2A9A-C7BD-1E1B-E78F2F961AB4}"/>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8" name="Footer Placeholder 7">
            <a:extLst>
              <a:ext uri="{FF2B5EF4-FFF2-40B4-BE49-F238E27FC236}">
                <a16:creationId xmlns:a16="http://schemas.microsoft.com/office/drawing/2014/main" id="{62ACC8BF-06E8-2367-A56F-E88DB07BEA0A}"/>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172A5A3-C03D-F3A3-E707-B0F8ADA9FD58}"/>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914347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1FF3B-B8D0-4191-412C-89A9E63F0ADA}"/>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085664B1-5A0E-066A-D3A3-6F5438945F92}"/>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4" name="Footer Placeholder 3">
            <a:extLst>
              <a:ext uri="{FF2B5EF4-FFF2-40B4-BE49-F238E27FC236}">
                <a16:creationId xmlns:a16="http://schemas.microsoft.com/office/drawing/2014/main" id="{E3ED8E04-6FFE-B008-3F6C-0F7939496991}"/>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AFB5DCF-AA88-1175-1110-104E67639836}"/>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68200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2C031-4B85-322E-BE58-2471E8F093A4}"/>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3" name="Footer Placeholder 2">
            <a:extLst>
              <a:ext uri="{FF2B5EF4-FFF2-40B4-BE49-F238E27FC236}">
                <a16:creationId xmlns:a16="http://schemas.microsoft.com/office/drawing/2014/main" id="{1F1EC322-81CC-29FE-D405-252B8C2D1178}"/>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B4C2DEA-A28D-0862-873E-8E12E26F9E72}"/>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138420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6A50C-21EF-8E9A-5C0D-ECA3439EDC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CA7F8893-EA77-55AC-0637-0851C95034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07E56FC-76FB-8139-CDE3-05DC24CD9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156FF8-072F-F39B-EDFA-9D03F1C55854}"/>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6" name="Footer Placeholder 5">
            <a:extLst>
              <a:ext uri="{FF2B5EF4-FFF2-40B4-BE49-F238E27FC236}">
                <a16:creationId xmlns:a16="http://schemas.microsoft.com/office/drawing/2014/main" id="{B5B2AD08-6366-FBE9-8D95-D7F4ED7016A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5EF79AE-8C70-722A-09F1-343A165AE690}"/>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729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71A9-DB0C-CBE6-8BE3-A903EDB92B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A5B2149-6CD6-9213-81A1-A392B068DE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F259B25-D95F-FB73-D150-2117E1CFA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94434-47AE-3A4D-C371-D3046A23A39A}"/>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6" name="Footer Placeholder 5">
            <a:extLst>
              <a:ext uri="{FF2B5EF4-FFF2-40B4-BE49-F238E27FC236}">
                <a16:creationId xmlns:a16="http://schemas.microsoft.com/office/drawing/2014/main" id="{9C0D8145-7EA8-58CB-B2B4-DAAD190257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E4535DE-858C-DEC0-C946-F441B4FB6C10}"/>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953560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B5DE-31CC-C9C5-9BCB-06F56F9F6443}"/>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B6FD7378-23CC-18A4-981A-5B2518B1BE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10C03BB-8CA6-3AA8-C99B-9310C9128F13}"/>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5" name="Footer Placeholder 4">
            <a:extLst>
              <a:ext uri="{FF2B5EF4-FFF2-40B4-BE49-F238E27FC236}">
                <a16:creationId xmlns:a16="http://schemas.microsoft.com/office/drawing/2014/main" id="{834973F8-1EA2-13D2-CDF2-F561572D298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91477FD-CE6B-6A1F-D6CA-6A5988143F13}"/>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44564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70BBFF-9EF1-FA62-05CC-9B6D6EA86C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0739B09-CF70-1183-39F2-5C0949270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D3D1ED6-19A3-DD9C-CAFB-EF9FD2DE832D}"/>
              </a:ext>
            </a:extLst>
          </p:cNvPr>
          <p:cNvSpPr>
            <a:spLocks noGrp="1"/>
          </p:cNvSpPr>
          <p:nvPr>
            <p:ph type="dt" sz="half" idx="10"/>
          </p:nvPr>
        </p:nvSpPr>
        <p:spPr/>
        <p:txBody>
          <a:bodyPr/>
          <a:lstStyle/>
          <a:p>
            <a:fld id="{4BC9743E-B57B-0844-AB41-8176AE8D863F}" type="datetimeFigureOut">
              <a:rPr lang="en-IL" smtClean="0"/>
              <a:t>08/10/2025</a:t>
            </a:fld>
            <a:endParaRPr lang="en-IL"/>
          </a:p>
        </p:txBody>
      </p:sp>
      <p:sp>
        <p:nvSpPr>
          <p:cNvPr id="5" name="Footer Placeholder 4">
            <a:extLst>
              <a:ext uri="{FF2B5EF4-FFF2-40B4-BE49-F238E27FC236}">
                <a16:creationId xmlns:a16="http://schemas.microsoft.com/office/drawing/2014/main" id="{7407E854-B65C-0061-7FA8-1ADF528FE76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6AC834F-A9F7-3961-B677-5C89CAC8176F}"/>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3358362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A84888-AE22-7EFC-A60D-20CD410BAA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345B3ED-9295-2F4C-3FF7-CE1067EFFC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6E59D22-BC29-5D43-A169-74DF43F074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C9743E-B57B-0844-AB41-8176AE8D863F}" type="datetimeFigureOut">
              <a:rPr lang="en-IL" smtClean="0"/>
              <a:t>08/10/2025</a:t>
            </a:fld>
            <a:endParaRPr lang="en-IL"/>
          </a:p>
        </p:txBody>
      </p:sp>
      <p:sp>
        <p:nvSpPr>
          <p:cNvPr id="5" name="Footer Placeholder 4">
            <a:extLst>
              <a:ext uri="{FF2B5EF4-FFF2-40B4-BE49-F238E27FC236}">
                <a16:creationId xmlns:a16="http://schemas.microsoft.com/office/drawing/2014/main" id="{D576830B-A33E-2DD9-443B-ADEE057AF0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D16D06D4-9FD5-B5BC-50ED-806B335B7B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B7615F-E33B-3848-BD22-4AC293A6C7B8}" type="slidenum">
              <a:rPr lang="en-IL" smtClean="0"/>
              <a:t>‹#›</a:t>
            </a:fld>
            <a:endParaRPr lang="en-IL"/>
          </a:p>
        </p:txBody>
      </p:sp>
    </p:spTree>
    <p:extLst>
      <p:ext uri="{BB962C8B-B14F-4D97-AF65-F5344CB8AC3E}">
        <p14:creationId xmlns:p14="http://schemas.microsoft.com/office/powerpoint/2010/main" val="2653461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surfo.co.il/%D7%92%D7%9C%D7%A9%D7%9F-%D7%9C%D7%9B%D7%9C-%D7%9C%D7%97%D7%99%D7%99%D7%9C/?srsltid=AfmBOoqN4LtxTpk7vvXsxiQC2ZcBSKh5Bd14er-EOgFtK1H42y6V4Tv3" TargetMode="External"/><Relationship Id="rId2" Type="http://schemas.openxmlformats.org/officeDocument/2006/relationships/hyperlink" Target="https://www.idoaviv.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spreadsheets/d/1ejUUHMswNtzBz0Xb5K2AJPZKBYJWNwd0J2LGulFbTSU/edit?pli=1&amp;gid=1927256978#gid=1927256978"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app.diagrams.net/#G15f6Y6HFmrjIWc39CQFDncdHQyE4VhCD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83A6-5065-CCEE-5071-BD867F39DBBA}"/>
              </a:ext>
            </a:extLst>
          </p:cNvPr>
          <p:cNvSpPr>
            <a:spLocks noGrp="1"/>
          </p:cNvSpPr>
          <p:nvPr>
            <p:ph type="ctrTitle"/>
          </p:nvPr>
        </p:nvSpPr>
        <p:spPr/>
        <p:txBody>
          <a:bodyPr>
            <a:normAutofit fontScale="90000"/>
          </a:bodyPr>
          <a:lstStyle/>
          <a:p>
            <a:r>
              <a:rPr lang="en-US" dirty="0">
                <a:solidFill>
                  <a:schemeClr val="accent2"/>
                </a:solidFill>
              </a:rPr>
              <a:t>Ido Aviv Memorial</a:t>
            </a:r>
            <a:r>
              <a:rPr lang="en-IL" dirty="0">
                <a:solidFill>
                  <a:schemeClr val="accent2"/>
                </a:solidFill>
              </a:rPr>
              <a:t>- </a:t>
            </a:r>
            <a:r>
              <a:rPr lang="en-US" dirty="0">
                <a:solidFill>
                  <a:schemeClr val="accent2"/>
                </a:solidFill>
              </a:rPr>
              <a:t>Free surfboard for each soldier</a:t>
            </a:r>
            <a:br>
              <a:rPr lang="en-IL" dirty="0"/>
            </a:br>
            <a:br>
              <a:rPr lang="en-IL" sz="2800" dirty="0"/>
            </a:br>
            <a:r>
              <a:rPr lang="en-US" sz="2800" dirty="0">
                <a:solidFill>
                  <a:schemeClr val="accent4"/>
                </a:solidFill>
              </a:rPr>
              <a:t>Ofek Yabo, Dolev David, Segev </a:t>
            </a:r>
            <a:r>
              <a:rPr lang="en-US" sz="2800" dirty="0" err="1">
                <a:solidFill>
                  <a:schemeClr val="accent4"/>
                </a:solidFill>
              </a:rPr>
              <a:t>Olpak</a:t>
            </a:r>
            <a:r>
              <a:rPr lang="en-US" sz="2800" dirty="0">
                <a:solidFill>
                  <a:schemeClr val="accent4"/>
                </a:solidFill>
              </a:rPr>
              <a:t>, Guy Yehoshua</a:t>
            </a:r>
            <a:endParaRPr lang="en-IL" sz="2800" dirty="0">
              <a:solidFill>
                <a:schemeClr val="accent4"/>
              </a:solidFill>
            </a:endParaRPr>
          </a:p>
        </p:txBody>
      </p:sp>
      <p:sp>
        <p:nvSpPr>
          <p:cNvPr id="3" name="Subtitle 2">
            <a:extLst>
              <a:ext uri="{FF2B5EF4-FFF2-40B4-BE49-F238E27FC236}">
                <a16:creationId xmlns:a16="http://schemas.microsoft.com/office/drawing/2014/main" id="{AEC5FA62-C095-E0FA-B574-15C0BAAE7B54}"/>
              </a:ext>
            </a:extLst>
          </p:cNvPr>
          <p:cNvSpPr>
            <a:spLocks noGrp="1"/>
          </p:cNvSpPr>
          <p:nvPr>
            <p:ph type="subTitle" idx="1"/>
          </p:nvPr>
        </p:nvSpPr>
        <p:spPr/>
        <p:txBody>
          <a:bodyPr>
            <a:normAutofit lnSpcReduction="10000"/>
          </a:bodyPr>
          <a:lstStyle/>
          <a:p>
            <a:endParaRPr lang="en-IL" dirty="0"/>
          </a:p>
          <a:p>
            <a:r>
              <a:rPr lang="en-IL" dirty="0">
                <a:solidFill>
                  <a:schemeClr val="accent4"/>
                </a:solidFill>
              </a:rPr>
              <a:t>Software Engineering</a:t>
            </a:r>
          </a:p>
          <a:p>
            <a:r>
              <a:rPr lang="en-IL" dirty="0">
                <a:solidFill>
                  <a:schemeClr val="accent4"/>
                </a:solidFill>
              </a:rPr>
              <a:t>Faculty of E</a:t>
            </a:r>
            <a:r>
              <a:rPr lang="en-US" dirty="0">
                <a:solidFill>
                  <a:schemeClr val="accent4"/>
                </a:solidFill>
              </a:rPr>
              <a:t>n</a:t>
            </a:r>
            <a:r>
              <a:rPr lang="en-IL" dirty="0">
                <a:solidFill>
                  <a:schemeClr val="accent4"/>
                </a:solidFill>
              </a:rPr>
              <a:t>gineering</a:t>
            </a:r>
          </a:p>
          <a:p>
            <a:r>
              <a:rPr lang="en-IL" dirty="0">
                <a:solidFill>
                  <a:schemeClr val="accent2"/>
                </a:solidFill>
              </a:rPr>
              <a:t>Ben G</a:t>
            </a:r>
            <a:r>
              <a:rPr lang="en-US" dirty="0">
                <a:solidFill>
                  <a:schemeClr val="accent2"/>
                </a:solidFill>
              </a:rPr>
              <a:t>u</a:t>
            </a:r>
            <a:r>
              <a:rPr lang="en-IL" dirty="0">
                <a:solidFill>
                  <a:schemeClr val="accent2"/>
                </a:solidFill>
              </a:rPr>
              <a:t>rion University of the Negev</a:t>
            </a:r>
          </a:p>
        </p:txBody>
      </p:sp>
    </p:spTree>
    <p:extLst>
      <p:ext uri="{BB962C8B-B14F-4D97-AF65-F5344CB8AC3E}">
        <p14:creationId xmlns:p14="http://schemas.microsoft.com/office/powerpoint/2010/main" val="4083443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8667-1017-D186-3777-381108A27C6D}"/>
              </a:ext>
            </a:extLst>
          </p:cNvPr>
          <p:cNvSpPr>
            <a:spLocks noGrp="1"/>
          </p:cNvSpPr>
          <p:nvPr>
            <p:ph type="title"/>
          </p:nvPr>
        </p:nvSpPr>
        <p:spPr/>
        <p:txBody>
          <a:bodyPr/>
          <a:lstStyle/>
          <a:p>
            <a:r>
              <a:rPr lang="en-IL" dirty="0">
                <a:solidFill>
                  <a:schemeClr val="accent4"/>
                </a:solidFill>
              </a:rPr>
              <a:t>Project Title</a:t>
            </a:r>
            <a:r>
              <a:rPr lang="en-US" dirty="0">
                <a:solidFill>
                  <a:schemeClr val="accent4"/>
                </a:solidFill>
              </a:rPr>
              <a:t> </a:t>
            </a:r>
            <a:endParaRPr lang="en-IL" dirty="0">
              <a:solidFill>
                <a:schemeClr val="accent4"/>
              </a:solidFill>
            </a:endParaRPr>
          </a:p>
        </p:txBody>
      </p:sp>
      <p:sp>
        <p:nvSpPr>
          <p:cNvPr id="3" name="Content Placeholder 2">
            <a:extLst>
              <a:ext uri="{FF2B5EF4-FFF2-40B4-BE49-F238E27FC236}">
                <a16:creationId xmlns:a16="http://schemas.microsoft.com/office/drawing/2014/main" id="{35938901-CC71-1857-FA37-870A5FD9C96E}"/>
              </a:ext>
            </a:extLst>
          </p:cNvPr>
          <p:cNvSpPr>
            <a:spLocks noGrp="1"/>
          </p:cNvSpPr>
          <p:nvPr>
            <p:ph idx="1"/>
          </p:nvPr>
        </p:nvSpPr>
        <p:spPr/>
        <p:txBody>
          <a:bodyPr/>
          <a:lstStyle/>
          <a:p>
            <a:r>
              <a:rPr lang="en-US" dirty="0"/>
              <a:t>Free surfboard for each soldier </a:t>
            </a:r>
            <a:endParaRPr lang="en-IL" dirty="0"/>
          </a:p>
          <a:p>
            <a:r>
              <a:rPr lang="he-IL" dirty="0"/>
              <a:t>גלשן בחינם עבור כל חייל</a:t>
            </a:r>
            <a:endParaRPr lang="en-IL" dirty="0"/>
          </a:p>
          <a:p>
            <a:endParaRPr lang="en-IL" dirty="0"/>
          </a:p>
          <a:p>
            <a:endParaRPr lang="en-IL" dirty="0"/>
          </a:p>
        </p:txBody>
      </p:sp>
      <p:graphicFrame>
        <p:nvGraphicFramePr>
          <p:cNvPr id="4" name="Table 4">
            <a:extLst>
              <a:ext uri="{FF2B5EF4-FFF2-40B4-BE49-F238E27FC236}">
                <a16:creationId xmlns:a16="http://schemas.microsoft.com/office/drawing/2014/main" id="{3F6078D3-65AA-F72B-F37F-D9B00B839691}"/>
              </a:ext>
            </a:extLst>
          </p:cNvPr>
          <p:cNvGraphicFramePr>
            <a:graphicFrameLocks noGrp="1"/>
          </p:cNvGraphicFramePr>
          <p:nvPr>
            <p:extLst>
              <p:ext uri="{D42A27DB-BD31-4B8C-83A1-F6EECF244321}">
                <p14:modId xmlns:p14="http://schemas.microsoft.com/office/powerpoint/2010/main" val="298150940"/>
              </p:ext>
            </p:extLst>
          </p:nvPr>
        </p:nvGraphicFramePr>
        <p:xfrm>
          <a:off x="1098884" y="3429000"/>
          <a:ext cx="10371220" cy="1854200"/>
        </p:xfrm>
        <a:graphic>
          <a:graphicData uri="http://schemas.openxmlformats.org/drawingml/2006/table">
            <a:tbl>
              <a:tblPr firstRow="1" bandRow="1">
                <a:tableStyleId>{5C22544A-7EE6-4342-B048-85BDC9FD1C3A}</a:tableStyleId>
              </a:tblPr>
              <a:tblGrid>
                <a:gridCol w="2074244">
                  <a:extLst>
                    <a:ext uri="{9D8B030D-6E8A-4147-A177-3AD203B41FA5}">
                      <a16:colId xmlns:a16="http://schemas.microsoft.com/office/drawing/2014/main" val="1301077502"/>
                    </a:ext>
                  </a:extLst>
                </a:gridCol>
                <a:gridCol w="1912219">
                  <a:extLst>
                    <a:ext uri="{9D8B030D-6E8A-4147-A177-3AD203B41FA5}">
                      <a16:colId xmlns:a16="http://schemas.microsoft.com/office/drawing/2014/main" val="880678584"/>
                    </a:ext>
                  </a:extLst>
                </a:gridCol>
                <a:gridCol w="2919374">
                  <a:extLst>
                    <a:ext uri="{9D8B030D-6E8A-4147-A177-3AD203B41FA5}">
                      <a16:colId xmlns:a16="http://schemas.microsoft.com/office/drawing/2014/main" val="2389802636"/>
                    </a:ext>
                  </a:extLst>
                </a:gridCol>
                <a:gridCol w="1732837">
                  <a:extLst>
                    <a:ext uri="{9D8B030D-6E8A-4147-A177-3AD203B41FA5}">
                      <a16:colId xmlns:a16="http://schemas.microsoft.com/office/drawing/2014/main" val="4014467268"/>
                    </a:ext>
                  </a:extLst>
                </a:gridCol>
                <a:gridCol w="1732546">
                  <a:extLst>
                    <a:ext uri="{9D8B030D-6E8A-4147-A177-3AD203B41FA5}">
                      <a16:colId xmlns:a16="http://schemas.microsoft.com/office/drawing/2014/main" val="2208080845"/>
                    </a:ext>
                  </a:extLst>
                </a:gridCol>
              </a:tblGrid>
              <a:tr h="370840">
                <a:tc>
                  <a:txBody>
                    <a:bodyPr/>
                    <a:lstStyle/>
                    <a:p>
                      <a:pPr rtl="0"/>
                      <a:r>
                        <a:rPr lang="en-IL" dirty="0">
                          <a:solidFill>
                            <a:schemeClr val="accent4"/>
                          </a:solidFill>
                        </a:rPr>
                        <a:t>Student Name</a:t>
                      </a:r>
                    </a:p>
                  </a:txBody>
                  <a:tcPr>
                    <a:solidFill>
                      <a:schemeClr val="bg1"/>
                    </a:solidFill>
                  </a:tcPr>
                </a:tc>
                <a:tc>
                  <a:txBody>
                    <a:bodyPr/>
                    <a:lstStyle/>
                    <a:p>
                      <a:pPr rtl="0"/>
                      <a:r>
                        <a:rPr lang="en-IL" dirty="0">
                          <a:solidFill>
                            <a:schemeClr val="accent4"/>
                          </a:solidFill>
                        </a:rPr>
                        <a:t>ID</a:t>
                      </a:r>
                    </a:p>
                  </a:txBody>
                  <a:tcPr>
                    <a:solidFill>
                      <a:schemeClr val="bg1"/>
                    </a:solidFill>
                  </a:tcPr>
                </a:tc>
                <a:tc>
                  <a:txBody>
                    <a:bodyPr/>
                    <a:lstStyle/>
                    <a:p>
                      <a:pPr rtl="0"/>
                      <a:r>
                        <a:rPr lang="en-IL" dirty="0">
                          <a:solidFill>
                            <a:schemeClr val="accent4"/>
                          </a:solidFill>
                        </a:rPr>
                        <a:t>Email</a:t>
                      </a:r>
                    </a:p>
                  </a:txBody>
                  <a:tcPr>
                    <a:solidFill>
                      <a:schemeClr val="bg1"/>
                    </a:solidFill>
                  </a:tcPr>
                </a:tc>
                <a:tc>
                  <a:txBody>
                    <a:bodyPr/>
                    <a:lstStyle/>
                    <a:p>
                      <a:pPr rtl="0"/>
                      <a:r>
                        <a:rPr lang="en-IL" dirty="0">
                          <a:solidFill>
                            <a:schemeClr val="accent4"/>
                          </a:solidFill>
                        </a:rPr>
                        <a:t>Phone</a:t>
                      </a:r>
                    </a:p>
                  </a:txBody>
                  <a:tcPr>
                    <a:solidFill>
                      <a:schemeClr val="bg1"/>
                    </a:solidFill>
                  </a:tcPr>
                </a:tc>
                <a:tc>
                  <a:txBody>
                    <a:bodyPr/>
                    <a:lstStyle/>
                    <a:p>
                      <a:pPr rtl="0"/>
                      <a:r>
                        <a:rPr lang="en-IL" dirty="0">
                          <a:solidFill>
                            <a:schemeClr val="accent4"/>
                          </a:solidFill>
                        </a:rPr>
                        <a:t>Signature</a:t>
                      </a:r>
                    </a:p>
                  </a:txBody>
                  <a:tcPr>
                    <a:solidFill>
                      <a:schemeClr val="bg1"/>
                    </a:solidFill>
                  </a:tcPr>
                </a:tc>
                <a:extLst>
                  <a:ext uri="{0D108BD9-81ED-4DB2-BD59-A6C34878D82A}">
                    <a16:rowId xmlns:a16="http://schemas.microsoft.com/office/drawing/2014/main" val="2658813419"/>
                  </a:ext>
                </a:extLst>
              </a:tr>
              <a:tr h="370840">
                <a:tc>
                  <a:txBody>
                    <a:bodyPr/>
                    <a:lstStyle/>
                    <a:p>
                      <a:pPr marL="0" algn="l" defTabSz="914400" rtl="0" eaLnBrk="1" latinLnBrk="0" hangingPunct="1"/>
                      <a:r>
                        <a:rPr lang="en-US" dirty="0">
                          <a:solidFill>
                            <a:schemeClr val="tx1"/>
                          </a:solidFill>
                        </a:rPr>
                        <a:t>Ofek Yabo</a:t>
                      </a:r>
                      <a:endParaRPr lang="en-IL" dirty="0">
                        <a:solidFill>
                          <a:schemeClr val="tx1"/>
                        </a:solidFill>
                      </a:endParaRPr>
                    </a:p>
                  </a:txBody>
                  <a:tcPr>
                    <a:solidFill>
                      <a:schemeClr val="bg1"/>
                    </a:solidFill>
                  </a:tcPr>
                </a:tc>
                <a:tc>
                  <a:txBody>
                    <a:bodyPr/>
                    <a:lstStyle/>
                    <a:p>
                      <a:pPr rtl="0"/>
                      <a:r>
                        <a:rPr lang="en-US" dirty="0">
                          <a:solidFill>
                            <a:schemeClr val="tx1"/>
                          </a:solidFill>
                        </a:rPr>
                        <a:t>209288588</a:t>
                      </a:r>
                      <a:endParaRPr lang="en-IL" dirty="0">
                        <a:solidFill>
                          <a:schemeClr val="tx1"/>
                        </a:solidFill>
                      </a:endParaRPr>
                    </a:p>
                  </a:txBody>
                  <a:tcPr>
                    <a:solidFill>
                      <a:schemeClr val="bg1"/>
                    </a:solidFill>
                  </a:tcPr>
                </a:tc>
                <a:tc>
                  <a:txBody>
                    <a:bodyPr/>
                    <a:lstStyle/>
                    <a:p>
                      <a:pPr algn="l" fontAlgn="b">
                        <a:buNone/>
                      </a:pPr>
                      <a:r>
                        <a:rPr lang="en-US" sz="1800" kern="1200" dirty="0">
                          <a:solidFill>
                            <a:schemeClr val="tx1"/>
                          </a:solidFill>
                          <a:latin typeface="+mn-lt"/>
                          <a:ea typeface="+mn-ea"/>
                          <a:cs typeface="+mn-cs"/>
                        </a:rPr>
                        <a:t>Yaboofe@post.bgu.ac.il</a:t>
                      </a:r>
                    </a:p>
                  </a:txBody>
                  <a:tcPr marL="9525" marR="9525" marT="9525" anchor="b">
                    <a:solidFill>
                      <a:schemeClr val="bg1"/>
                    </a:solidFill>
                  </a:tcPr>
                </a:tc>
                <a:tc>
                  <a:txBody>
                    <a:bodyPr/>
                    <a:lstStyle/>
                    <a:p>
                      <a:pPr rtl="0"/>
                      <a:r>
                        <a:rPr lang="en-US" dirty="0">
                          <a:solidFill>
                            <a:schemeClr val="tx1"/>
                          </a:solidFill>
                        </a:rPr>
                        <a:t>0547729233</a:t>
                      </a:r>
                      <a:endParaRPr lang="en-IL" dirty="0">
                        <a:solidFill>
                          <a:schemeClr val="tx1"/>
                        </a:solidFill>
                      </a:endParaRPr>
                    </a:p>
                  </a:txBody>
                  <a:tcPr>
                    <a:solidFill>
                      <a:schemeClr val="bg1"/>
                    </a:solidFill>
                  </a:tcPr>
                </a:tc>
                <a:tc>
                  <a:txBody>
                    <a:bodyPr/>
                    <a:lstStyle/>
                    <a:p>
                      <a:pPr rtl="0"/>
                      <a:r>
                        <a:rPr lang="en-US" dirty="0">
                          <a:solidFill>
                            <a:schemeClr val="tx1"/>
                          </a:solidFill>
                        </a:rPr>
                        <a:t>Ofek</a:t>
                      </a:r>
                      <a:endParaRPr lang="en-IL" dirty="0">
                        <a:solidFill>
                          <a:schemeClr val="tx1"/>
                        </a:solidFill>
                      </a:endParaRPr>
                    </a:p>
                  </a:txBody>
                  <a:tcPr>
                    <a:solidFill>
                      <a:schemeClr val="bg1"/>
                    </a:solidFill>
                  </a:tcPr>
                </a:tc>
                <a:extLst>
                  <a:ext uri="{0D108BD9-81ED-4DB2-BD59-A6C34878D82A}">
                    <a16:rowId xmlns:a16="http://schemas.microsoft.com/office/drawing/2014/main" val="2439746224"/>
                  </a:ext>
                </a:extLst>
              </a:tr>
              <a:tr h="370840">
                <a:tc>
                  <a:txBody>
                    <a:bodyPr/>
                    <a:lstStyle/>
                    <a:p>
                      <a:pPr marL="0" algn="l" defTabSz="914400" rtl="0" eaLnBrk="1" latinLnBrk="0" hangingPunct="1"/>
                      <a:r>
                        <a:rPr lang="en-US" dirty="0">
                          <a:solidFill>
                            <a:schemeClr val="tx1"/>
                          </a:solidFill>
                        </a:rPr>
                        <a:t>Dolev David</a:t>
                      </a:r>
                      <a:endParaRPr lang="en-IL" dirty="0">
                        <a:solidFill>
                          <a:schemeClr val="tx1"/>
                        </a:solidFill>
                      </a:endParaRPr>
                    </a:p>
                  </a:txBody>
                  <a:tcPr>
                    <a:solidFill>
                      <a:schemeClr val="bg1"/>
                    </a:solidFill>
                  </a:tcPr>
                </a:tc>
                <a:tc>
                  <a:txBody>
                    <a:bodyPr/>
                    <a:lstStyle/>
                    <a:p>
                      <a:pPr rtl="0"/>
                      <a:r>
                        <a:rPr lang="en-US" dirty="0">
                          <a:solidFill>
                            <a:schemeClr val="tx1"/>
                          </a:solidFill>
                        </a:rPr>
                        <a:t>207244021</a:t>
                      </a:r>
                      <a:endParaRPr lang="en-IL" dirty="0">
                        <a:solidFill>
                          <a:schemeClr val="tx1"/>
                        </a:solidFill>
                      </a:endParaRPr>
                    </a:p>
                  </a:txBody>
                  <a:tcPr>
                    <a:solidFill>
                      <a:schemeClr val="bg1"/>
                    </a:solidFill>
                  </a:tcPr>
                </a:tc>
                <a:tc>
                  <a:txBody>
                    <a:bodyPr/>
                    <a:lstStyle/>
                    <a:p>
                      <a:pPr algn="l" fontAlgn="b">
                        <a:buNone/>
                      </a:pPr>
                      <a:r>
                        <a:rPr lang="en-US" sz="1800" kern="1200" dirty="0">
                          <a:solidFill>
                            <a:schemeClr val="tx1"/>
                          </a:solidFill>
                          <a:latin typeface="+mn-lt"/>
                          <a:ea typeface="+mn-ea"/>
                          <a:cs typeface="+mn-cs"/>
                        </a:rPr>
                        <a:t>DolevDav@bgu.ac.il</a:t>
                      </a:r>
                    </a:p>
                  </a:txBody>
                  <a:tcPr marL="9525" marR="9525" marT="9525" anchor="b">
                    <a:solidFill>
                      <a:schemeClr val="bg1"/>
                    </a:solidFill>
                  </a:tcPr>
                </a:tc>
                <a:tc>
                  <a:txBody>
                    <a:bodyPr/>
                    <a:lstStyle/>
                    <a:p>
                      <a:pPr rtl="0"/>
                      <a:r>
                        <a:rPr lang="en-US" dirty="0">
                          <a:solidFill>
                            <a:schemeClr val="tx1"/>
                          </a:solidFill>
                        </a:rPr>
                        <a:t>0509140464</a:t>
                      </a:r>
                      <a:endParaRPr lang="en-IL" dirty="0">
                        <a:solidFill>
                          <a:schemeClr val="tx1"/>
                        </a:solidFill>
                      </a:endParaRPr>
                    </a:p>
                  </a:txBody>
                  <a:tcPr>
                    <a:solidFill>
                      <a:schemeClr val="bg1"/>
                    </a:solidFill>
                  </a:tcPr>
                </a:tc>
                <a:tc>
                  <a:txBody>
                    <a:bodyPr/>
                    <a:lstStyle/>
                    <a:p>
                      <a:pPr rtl="0"/>
                      <a:r>
                        <a:rPr lang="en-US" dirty="0">
                          <a:solidFill>
                            <a:schemeClr val="tx1"/>
                          </a:solidFill>
                        </a:rPr>
                        <a:t>Dolev</a:t>
                      </a:r>
                      <a:endParaRPr lang="en-IL" dirty="0">
                        <a:solidFill>
                          <a:schemeClr val="tx1"/>
                        </a:solidFill>
                      </a:endParaRPr>
                    </a:p>
                  </a:txBody>
                  <a:tcPr>
                    <a:solidFill>
                      <a:schemeClr val="bg1"/>
                    </a:solidFill>
                  </a:tcPr>
                </a:tc>
                <a:extLst>
                  <a:ext uri="{0D108BD9-81ED-4DB2-BD59-A6C34878D82A}">
                    <a16:rowId xmlns:a16="http://schemas.microsoft.com/office/drawing/2014/main" val="3457001699"/>
                  </a:ext>
                </a:extLst>
              </a:tr>
              <a:tr h="370840">
                <a:tc>
                  <a:txBody>
                    <a:bodyPr/>
                    <a:lstStyle/>
                    <a:p>
                      <a:pPr rtl="0"/>
                      <a:r>
                        <a:rPr lang="en-US" dirty="0">
                          <a:solidFill>
                            <a:schemeClr val="tx1"/>
                          </a:solidFill>
                        </a:rPr>
                        <a:t>Segev </a:t>
                      </a:r>
                      <a:r>
                        <a:rPr lang="en-US" dirty="0" err="1">
                          <a:solidFill>
                            <a:schemeClr val="tx1"/>
                          </a:solidFill>
                        </a:rPr>
                        <a:t>Olpak</a:t>
                      </a:r>
                      <a:endParaRPr lang="en-US" dirty="0">
                        <a:solidFill>
                          <a:schemeClr val="tx1"/>
                        </a:solidFill>
                      </a:endParaRPr>
                    </a:p>
                  </a:txBody>
                  <a:tcPr>
                    <a:solidFill>
                      <a:schemeClr val="bg1"/>
                    </a:solidFill>
                  </a:tcPr>
                </a:tc>
                <a:tc>
                  <a:txBody>
                    <a:bodyPr/>
                    <a:lstStyle/>
                    <a:p>
                      <a:pPr rtl="0"/>
                      <a:r>
                        <a:rPr lang="en-US" dirty="0">
                          <a:solidFill>
                            <a:schemeClr val="tx1"/>
                          </a:solidFill>
                        </a:rPr>
                        <a:t>325176188</a:t>
                      </a:r>
                      <a:endParaRPr lang="en-IL" dirty="0">
                        <a:solidFill>
                          <a:schemeClr val="tx1"/>
                        </a:solidFill>
                      </a:endParaRPr>
                    </a:p>
                  </a:txBody>
                  <a:tcPr>
                    <a:solidFill>
                      <a:schemeClr val="bg1"/>
                    </a:solidFill>
                  </a:tcPr>
                </a:tc>
                <a:tc>
                  <a:txBody>
                    <a:bodyPr/>
                    <a:lstStyle/>
                    <a:p>
                      <a:pPr rtl="0"/>
                      <a:r>
                        <a:rPr lang="en-US" dirty="0">
                          <a:solidFill>
                            <a:schemeClr val="tx1"/>
                          </a:solidFill>
                        </a:rPr>
                        <a:t>Olpak</a:t>
                      </a:r>
                      <a:r>
                        <a:rPr lang="en-US" sz="1800" kern="1200" dirty="0">
                          <a:solidFill>
                            <a:schemeClr val="tx1"/>
                          </a:solidFill>
                          <a:latin typeface="+mn-lt"/>
                          <a:ea typeface="+mn-ea"/>
                          <a:cs typeface="+mn-cs"/>
                        </a:rPr>
                        <a:t>@post.bgu.ac.il</a:t>
                      </a:r>
                      <a:endParaRPr lang="en-IL" dirty="0">
                        <a:solidFill>
                          <a:schemeClr val="tx1"/>
                        </a:solidFill>
                      </a:endParaRPr>
                    </a:p>
                  </a:txBody>
                  <a:tcPr>
                    <a:solidFill>
                      <a:schemeClr val="bg1"/>
                    </a:solidFill>
                  </a:tcPr>
                </a:tc>
                <a:tc>
                  <a:txBody>
                    <a:bodyPr/>
                    <a:lstStyle/>
                    <a:p>
                      <a:pPr rtl="0"/>
                      <a:r>
                        <a:rPr lang="en-US" dirty="0">
                          <a:solidFill>
                            <a:schemeClr val="tx1"/>
                          </a:solidFill>
                        </a:rPr>
                        <a:t>0526550098</a:t>
                      </a:r>
                      <a:endParaRPr lang="en-IL" dirty="0">
                        <a:solidFill>
                          <a:schemeClr val="tx1"/>
                        </a:solidFill>
                      </a:endParaRPr>
                    </a:p>
                  </a:txBody>
                  <a:tcPr>
                    <a:solidFill>
                      <a:schemeClr val="bg1"/>
                    </a:solidFill>
                  </a:tcPr>
                </a:tc>
                <a:tc>
                  <a:txBody>
                    <a:bodyPr/>
                    <a:lstStyle/>
                    <a:p>
                      <a:pPr marL="0" algn="l" defTabSz="914400" rtl="0" eaLnBrk="1" latinLnBrk="0" hangingPunct="1"/>
                      <a:r>
                        <a:rPr lang="en-US" dirty="0">
                          <a:solidFill>
                            <a:schemeClr val="tx1"/>
                          </a:solidFill>
                        </a:rPr>
                        <a:t>Segev</a:t>
                      </a:r>
                      <a:endParaRPr lang="en-IL" dirty="0">
                        <a:solidFill>
                          <a:schemeClr val="tx1"/>
                        </a:solidFill>
                      </a:endParaRPr>
                    </a:p>
                  </a:txBody>
                  <a:tcPr>
                    <a:solidFill>
                      <a:schemeClr val="bg1"/>
                    </a:solidFill>
                  </a:tcPr>
                </a:tc>
                <a:extLst>
                  <a:ext uri="{0D108BD9-81ED-4DB2-BD59-A6C34878D82A}">
                    <a16:rowId xmlns:a16="http://schemas.microsoft.com/office/drawing/2014/main" val="4033936973"/>
                  </a:ext>
                </a:extLst>
              </a:tr>
              <a:tr h="370840">
                <a:tc>
                  <a:txBody>
                    <a:bodyPr/>
                    <a:lstStyle/>
                    <a:p>
                      <a:pPr rtl="0"/>
                      <a:r>
                        <a:rPr lang="en-US" dirty="0">
                          <a:solidFill>
                            <a:schemeClr val="tx1"/>
                          </a:solidFill>
                        </a:rPr>
                        <a:t>Guy Yehoshua</a:t>
                      </a:r>
                    </a:p>
                  </a:txBody>
                  <a:tcPr>
                    <a:solidFill>
                      <a:schemeClr val="bg1"/>
                    </a:solidFill>
                  </a:tcPr>
                </a:tc>
                <a:tc>
                  <a:txBody>
                    <a:bodyPr/>
                    <a:lstStyle/>
                    <a:p>
                      <a:pPr rtl="0"/>
                      <a:r>
                        <a:rPr lang="en-US" dirty="0">
                          <a:solidFill>
                            <a:schemeClr val="tx1"/>
                          </a:solidFill>
                        </a:rPr>
                        <a:t>326529229</a:t>
                      </a:r>
                      <a:endParaRPr lang="en-IL" dirty="0">
                        <a:solidFill>
                          <a:schemeClr val="tx1"/>
                        </a:solidFill>
                      </a:endParaRPr>
                    </a:p>
                  </a:txBody>
                  <a:tcPr>
                    <a:solidFill>
                      <a:schemeClr val="bg1"/>
                    </a:solidFill>
                  </a:tcPr>
                </a:tc>
                <a:tc>
                  <a:txBody>
                    <a:bodyPr/>
                    <a:lstStyle/>
                    <a:p>
                      <a:pPr rtl="0"/>
                      <a:r>
                        <a:rPr lang="en-US" dirty="0">
                          <a:solidFill>
                            <a:schemeClr val="tx1"/>
                          </a:solidFill>
                        </a:rPr>
                        <a:t>Guyyeho</a:t>
                      </a:r>
                      <a:r>
                        <a:rPr lang="en-US" sz="1800" kern="1200" dirty="0">
                          <a:solidFill>
                            <a:schemeClr val="tx1"/>
                          </a:solidFill>
                          <a:latin typeface="+mn-lt"/>
                          <a:ea typeface="+mn-ea"/>
                          <a:cs typeface="+mn-cs"/>
                        </a:rPr>
                        <a:t>@post.bgu.ac.il</a:t>
                      </a:r>
                      <a:endParaRPr lang="en-IL" dirty="0">
                        <a:solidFill>
                          <a:schemeClr val="tx1"/>
                        </a:solidFill>
                      </a:endParaRPr>
                    </a:p>
                  </a:txBody>
                  <a:tcPr>
                    <a:solidFill>
                      <a:schemeClr val="bg1"/>
                    </a:solidFill>
                  </a:tcPr>
                </a:tc>
                <a:tc>
                  <a:txBody>
                    <a:bodyPr/>
                    <a:lstStyle/>
                    <a:p>
                      <a:pPr rtl="0"/>
                      <a:r>
                        <a:rPr lang="en-US" dirty="0">
                          <a:solidFill>
                            <a:schemeClr val="tx1"/>
                          </a:solidFill>
                        </a:rPr>
                        <a:t>0533345483</a:t>
                      </a:r>
                      <a:endParaRPr lang="en-IL" dirty="0">
                        <a:solidFill>
                          <a:schemeClr val="tx1"/>
                        </a:solidFill>
                      </a:endParaRPr>
                    </a:p>
                  </a:txBody>
                  <a:tcPr>
                    <a:solidFill>
                      <a:schemeClr val="bg1"/>
                    </a:solidFill>
                  </a:tcPr>
                </a:tc>
                <a:tc>
                  <a:txBody>
                    <a:bodyPr/>
                    <a:lstStyle/>
                    <a:p>
                      <a:pPr marL="0" algn="l" defTabSz="914400" rtl="0" eaLnBrk="1" latinLnBrk="0" hangingPunct="1"/>
                      <a:r>
                        <a:rPr lang="en-US" dirty="0">
                          <a:solidFill>
                            <a:schemeClr val="tx1"/>
                          </a:solidFill>
                        </a:rPr>
                        <a:t>Guy</a:t>
                      </a:r>
                      <a:endParaRPr lang="en-IL" dirty="0">
                        <a:solidFill>
                          <a:schemeClr val="tx1"/>
                        </a:solidFill>
                      </a:endParaRPr>
                    </a:p>
                  </a:txBody>
                  <a:tcPr>
                    <a:solidFill>
                      <a:schemeClr val="bg1"/>
                    </a:solidFill>
                  </a:tcPr>
                </a:tc>
                <a:extLst>
                  <a:ext uri="{0D108BD9-81ED-4DB2-BD59-A6C34878D82A}">
                    <a16:rowId xmlns:a16="http://schemas.microsoft.com/office/drawing/2014/main" val="1794829699"/>
                  </a:ext>
                </a:extLst>
              </a:tr>
            </a:tbl>
          </a:graphicData>
        </a:graphic>
      </p:graphicFrame>
    </p:spTree>
    <p:extLst>
      <p:ext uri="{BB962C8B-B14F-4D97-AF65-F5344CB8AC3E}">
        <p14:creationId xmlns:p14="http://schemas.microsoft.com/office/powerpoint/2010/main" val="15811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3A19-A2D3-9085-9598-ADF36AFA89C1}"/>
              </a:ext>
            </a:extLst>
          </p:cNvPr>
          <p:cNvSpPr>
            <a:spLocks noGrp="1"/>
          </p:cNvSpPr>
          <p:nvPr>
            <p:ph type="title"/>
          </p:nvPr>
        </p:nvSpPr>
        <p:spPr/>
        <p:txBody>
          <a:bodyPr/>
          <a:lstStyle/>
          <a:p>
            <a:r>
              <a:rPr lang="en-IL" dirty="0">
                <a:solidFill>
                  <a:schemeClr val="accent4"/>
                </a:solidFill>
              </a:rPr>
              <a:t>Customer</a:t>
            </a:r>
          </a:p>
        </p:txBody>
      </p:sp>
      <p:sp>
        <p:nvSpPr>
          <p:cNvPr id="3" name="Content Placeholder 2">
            <a:extLst>
              <a:ext uri="{FF2B5EF4-FFF2-40B4-BE49-F238E27FC236}">
                <a16:creationId xmlns:a16="http://schemas.microsoft.com/office/drawing/2014/main" id="{23E67915-CC19-1276-FBA9-6CA0EEBB7F2E}"/>
              </a:ext>
            </a:extLst>
          </p:cNvPr>
          <p:cNvSpPr>
            <a:spLocks noGrp="1"/>
          </p:cNvSpPr>
          <p:nvPr>
            <p:ph idx="1"/>
          </p:nvPr>
        </p:nvSpPr>
        <p:spPr/>
        <p:txBody>
          <a:bodyPr/>
          <a:lstStyle/>
          <a:p>
            <a:r>
              <a:rPr lang="en-US" dirty="0"/>
              <a:t>Gil Hurvitz</a:t>
            </a:r>
            <a:endParaRPr lang="en-IL" dirty="0"/>
          </a:p>
          <a:p>
            <a:r>
              <a:rPr lang="en-IL" dirty="0"/>
              <a:t>Customer Representative Person</a:t>
            </a:r>
          </a:p>
          <a:p>
            <a:pPr lvl="1"/>
            <a:r>
              <a:rPr lang="en-GB" dirty="0"/>
              <a:t>The surf club manager and Ido's employer</a:t>
            </a:r>
          </a:p>
          <a:p>
            <a:pPr lvl="1"/>
            <a:r>
              <a:rPr lang="en-US" dirty="0"/>
              <a:t>Gil.hurvitz1@gmail.com</a:t>
            </a:r>
            <a:endParaRPr lang="en-IL" dirty="0"/>
          </a:p>
          <a:p>
            <a:pPr lvl="1"/>
            <a:r>
              <a:rPr lang="en-US" dirty="0"/>
              <a:t>0505505010</a:t>
            </a:r>
            <a:endParaRPr lang="en-IL" dirty="0"/>
          </a:p>
          <a:p>
            <a:pPr lvl="1"/>
            <a:r>
              <a:rPr lang="he-IL" dirty="0"/>
              <a:t>מרכז ימי קרית ים</a:t>
            </a:r>
            <a:endParaRPr lang="en-IL" dirty="0"/>
          </a:p>
          <a:p>
            <a:r>
              <a:rPr lang="en-IL" dirty="0"/>
              <a:t>More Advisors</a:t>
            </a:r>
            <a:r>
              <a:rPr lang="en-US" dirty="0"/>
              <a:t>:</a:t>
            </a:r>
            <a:br>
              <a:rPr lang="en-US" dirty="0"/>
            </a:br>
            <a:r>
              <a:rPr lang="en-US" dirty="0"/>
              <a:t>Wix support and sponsor this important memorial project.</a:t>
            </a:r>
            <a:endParaRPr lang="en-IL" dirty="0"/>
          </a:p>
        </p:txBody>
      </p:sp>
    </p:spTree>
    <p:extLst>
      <p:ext uri="{BB962C8B-B14F-4D97-AF65-F5344CB8AC3E}">
        <p14:creationId xmlns:p14="http://schemas.microsoft.com/office/powerpoint/2010/main" val="865093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89B0-98FC-59C4-32EC-FC1BB3D9D283}"/>
              </a:ext>
            </a:extLst>
          </p:cNvPr>
          <p:cNvSpPr>
            <a:spLocks noGrp="1"/>
          </p:cNvSpPr>
          <p:nvPr>
            <p:ph type="title"/>
          </p:nvPr>
        </p:nvSpPr>
        <p:spPr/>
        <p:txBody>
          <a:bodyPr/>
          <a:lstStyle/>
          <a:p>
            <a:r>
              <a:rPr lang="en-IL" dirty="0">
                <a:solidFill>
                  <a:schemeClr val="accent4"/>
                </a:solidFill>
              </a:rPr>
              <a:t>Introduction</a:t>
            </a:r>
          </a:p>
        </p:txBody>
      </p:sp>
      <p:sp>
        <p:nvSpPr>
          <p:cNvPr id="3" name="Content Placeholder 2">
            <a:extLst>
              <a:ext uri="{FF2B5EF4-FFF2-40B4-BE49-F238E27FC236}">
                <a16:creationId xmlns:a16="http://schemas.microsoft.com/office/drawing/2014/main" id="{EA60053F-14CA-E694-9B80-E95BE89E2BF9}"/>
              </a:ext>
            </a:extLst>
          </p:cNvPr>
          <p:cNvSpPr>
            <a:spLocks noGrp="1"/>
          </p:cNvSpPr>
          <p:nvPr>
            <p:ph idx="1"/>
          </p:nvPr>
        </p:nvSpPr>
        <p:spPr/>
        <p:txBody>
          <a:bodyPr>
            <a:normAutofit fontScale="77500" lnSpcReduction="20000"/>
          </a:bodyPr>
          <a:lstStyle/>
          <a:p>
            <a:r>
              <a:rPr lang="en-GB" dirty="0"/>
              <a:t>A project in memory of Ido Aviv, who was head of surf coaching in Gil’s surf club at Kiryat Yam and fell in the war</a:t>
            </a:r>
            <a:r>
              <a:rPr lang="en-US" dirty="0"/>
              <a:t>.</a:t>
            </a:r>
          </a:p>
          <a:p>
            <a:r>
              <a:rPr lang="en-US" dirty="0"/>
              <a:t>We will develop an end-to-end system that allows soldiers to scan their IDF card and open a lock that allows them to borrow a free surfboard at lifeguard towers in Israeli beaches.</a:t>
            </a:r>
          </a:p>
          <a:p>
            <a:r>
              <a:rPr lang="en-US" dirty="0"/>
              <a:t>The project combines sensors, hardware, and </a:t>
            </a:r>
            <a:r>
              <a:rPr lang="en-GB" dirty="0"/>
              <a:t>a flexible backend system that will support expansion and conversion of the platform to additional channels. On top of that the system will integrate into a Wix memorial website dedicated to Ido Aviv.</a:t>
            </a:r>
          </a:p>
          <a:p>
            <a:r>
              <a:rPr lang="en-GB" dirty="0"/>
              <a:t>Problems we solve: A flexible system that manages entities, manages users and permissions, monitors the status of equipment in real time, allows for expansion and addition of objects, maintains the security of users' information, interfaces to work with sensors and physical hardware components, and finally interfaces to work through the WIX website in a convenient way. In addition, a unique scan of the soldier's card will be used to verify his identity - something that is already registered in a patent that is unique to this project.</a:t>
            </a:r>
            <a:endParaRPr lang="en-IL" dirty="0"/>
          </a:p>
        </p:txBody>
      </p:sp>
    </p:spTree>
    <p:extLst>
      <p:ext uri="{BB962C8B-B14F-4D97-AF65-F5344CB8AC3E}">
        <p14:creationId xmlns:p14="http://schemas.microsoft.com/office/powerpoint/2010/main" val="176747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84653-5E25-1B85-1482-ACD0F148A951}"/>
              </a:ext>
            </a:extLst>
          </p:cNvPr>
          <p:cNvSpPr>
            <a:spLocks noGrp="1"/>
          </p:cNvSpPr>
          <p:nvPr>
            <p:ph type="title"/>
          </p:nvPr>
        </p:nvSpPr>
        <p:spPr/>
        <p:txBody>
          <a:bodyPr/>
          <a:lstStyle/>
          <a:p>
            <a:r>
              <a:rPr lang="en-IL" dirty="0">
                <a:solidFill>
                  <a:schemeClr val="accent4"/>
                </a:solidFill>
              </a:rPr>
              <a:t>Project’s Motivation and Purpose</a:t>
            </a:r>
          </a:p>
        </p:txBody>
      </p:sp>
      <p:sp>
        <p:nvSpPr>
          <p:cNvPr id="3" name="Content Placeholder 2">
            <a:extLst>
              <a:ext uri="{FF2B5EF4-FFF2-40B4-BE49-F238E27FC236}">
                <a16:creationId xmlns:a16="http://schemas.microsoft.com/office/drawing/2014/main" id="{55B5C088-388E-D5AC-A306-A3D6B57F8B32}"/>
              </a:ext>
            </a:extLst>
          </p:cNvPr>
          <p:cNvSpPr>
            <a:spLocks noGrp="1"/>
          </p:cNvSpPr>
          <p:nvPr>
            <p:ph idx="1"/>
          </p:nvPr>
        </p:nvSpPr>
        <p:spPr/>
        <p:txBody>
          <a:bodyPr>
            <a:normAutofit fontScale="92500" lnSpcReduction="20000"/>
          </a:bodyPr>
          <a:lstStyle/>
          <a:p>
            <a:pPr marL="0" indent="0">
              <a:buNone/>
            </a:pPr>
            <a:r>
              <a:rPr lang="en-GB" dirty="0"/>
              <a:t>The project took shape after Ido's death in the war by Gil Horowitz and Ido's family, who were looking for ways to commemorate him in a way that best suited Ido. Ido used to say: "Take a surfboard, I trust you." The project began to take shape over time, one after another, and today there is a memorial site for Ido, and a surfboard cabinet located in the surf club that was designed to be opened remotely by scanning a soldier's card. The problem is that the project was built in a very specific way and is not suitable for expansion. Our ambition is that the entire project will be in memory of Ido, and in cooperation with municipalities we will be able to place additional cabinets throughout the country, thus commemorating the city's loved ones who were connected to the sea throughout the country using the platform we will create for Ido. In fact, we are creating a large platform to commemorate the soldiers who were connected to the sea, in a way that gives back to the soldiers who are fighting for us now.</a:t>
            </a:r>
            <a:br>
              <a:rPr lang="en-US" dirty="0"/>
            </a:br>
            <a:endParaRPr lang="en-IL" dirty="0"/>
          </a:p>
        </p:txBody>
      </p:sp>
    </p:spTree>
    <p:extLst>
      <p:ext uri="{BB962C8B-B14F-4D97-AF65-F5344CB8AC3E}">
        <p14:creationId xmlns:p14="http://schemas.microsoft.com/office/powerpoint/2010/main" val="758891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845C5-8074-14A7-86D0-5DA626486852}"/>
              </a:ext>
            </a:extLst>
          </p:cNvPr>
          <p:cNvSpPr>
            <a:spLocks noGrp="1"/>
          </p:cNvSpPr>
          <p:nvPr>
            <p:ph type="title"/>
          </p:nvPr>
        </p:nvSpPr>
        <p:spPr/>
        <p:txBody>
          <a:bodyPr/>
          <a:lstStyle/>
          <a:p>
            <a:r>
              <a:rPr lang="en-IL" dirty="0">
                <a:solidFill>
                  <a:schemeClr val="accent4"/>
                </a:solidFill>
              </a:rPr>
              <a:t>Project Description</a:t>
            </a:r>
          </a:p>
        </p:txBody>
      </p:sp>
      <p:sp>
        <p:nvSpPr>
          <p:cNvPr id="3" name="Content Placeholder 2">
            <a:extLst>
              <a:ext uri="{FF2B5EF4-FFF2-40B4-BE49-F238E27FC236}">
                <a16:creationId xmlns:a16="http://schemas.microsoft.com/office/drawing/2014/main" id="{0AE9EDCC-84F0-F15A-6F15-86E18F2FF97D}"/>
              </a:ext>
            </a:extLst>
          </p:cNvPr>
          <p:cNvSpPr>
            <a:spLocks noGrp="1"/>
          </p:cNvSpPr>
          <p:nvPr>
            <p:ph idx="1"/>
          </p:nvPr>
        </p:nvSpPr>
        <p:spPr/>
        <p:txBody>
          <a:bodyPr>
            <a:normAutofit fontScale="85000" lnSpcReduction="10000"/>
          </a:bodyPr>
          <a:lstStyle/>
          <a:p>
            <a:r>
              <a:rPr lang="en-GB" dirty="0"/>
              <a:t>A system for managing entities, users and permissions, to which objects can be added over time. The system should be built flexibly so that the platform can be copied for additional formats in the future (not necessarily surfboards).</a:t>
            </a:r>
          </a:p>
          <a:p>
            <a:r>
              <a:rPr lang="en-GB" dirty="0"/>
              <a:t>In addition to the system, we will implement the functionality to identify and authenticate users based on IDF id. We will also develop the physical system that will withstand challenging environmental conditions and interface between the hardware and the system. Finally, we will implement everything under interfacing with the WIX website intended to commemorate Ido.</a:t>
            </a:r>
          </a:p>
          <a:p>
            <a:r>
              <a:rPr lang="en-GB" dirty="0"/>
              <a:t>Functionality: object management, user management, permission management, hardware control and fault reporting, monitoring the status of the surfboards, remote lock opening, smart user authentication mechanism, adding new physical cabinets, adding surfboards to existing cabinets, integrating the system seamlessly with the existing WIX website.</a:t>
            </a:r>
            <a:endParaRPr lang="en-IL" dirty="0"/>
          </a:p>
          <a:p>
            <a:pPr lvl="1"/>
            <a:endParaRPr lang="en-IL" dirty="0"/>
          </a:p>
        </p:txBody>
      </p:sp>
    </p:spTree>
    <p:extLst>
      <p:ext uri="{BB962C8B-B14F-4D97-AF65-F5344CB8AC3E}">
        <p14:creationId xmlns:p14="http://schemas.microsoft.com/office/powerpoint/2010/main" val="3050315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6E82-7957-9142-A0D9-A39C108B9E16}"/>
              </a:ext>
            </a:extLst>
          </p:cNvPr>
          <p:cNvSpPr>
            <a:spLocks noGrp="1"/>
          </p:cNvSpPr>
          <p:nvPr>
            <p:ph type="title"/>
          </p:nvPr>
        </p:nvSpPr>
        <p:spPr/>
        <p:txBody>
          <a:bodyPr/>
          <a:lstStyle/>
          <a:p>
            <a:r>
              <a:rPr lang="en-IL" dirty="0">
                <a:solidFill>
                  <a:schemeClr val="accent4"/>
                </a:solidFill>
              </a:rPr>
              <a:t>Customer – what exists? </a:t>
            </a:r>
            <a:r>
              <a:rPr lang="en-US" dirty="0">
                <a:solidFill>
                  <a:schemeClr val="accent4"/>
                </a:solidFill>
              </a:rPr>
              <a:t>W</a:t>
            </a:r>
            <a:r>
              <a:rPr lang="en-IL" dirty="0">
                <a:solidFill>
                  <a:schemeClr val="accent4"/>
                </a:solidFill>
              </a:rPr>
              <a:t>hat provides?</a:t>
            </a:r>
          </a:p>
        </p:txBody>
      </p:sp>
      <p:sp>
        <p:nvSpPr>
          <p:cNvPr id="3" name="Content Placeholder 2">
            <a:extLst>
              <a:ext uri="{FF2B5EF4-FFF2-40B4-BE49-F238E27FC236}">
                <a16:creationId xmlns:a16="http://schemas.microsoft.com/office/drawing/2014/main" id="{7112466B-AB51-5FE6-B845-5BFFF2C709A7}"/>
              </a:ext>
            </a:extLst>
          </p:cNvPr>
          <p:cNvSpPr>
            <a:spLocks noGrp="1"/>
          </p:cNvSpPr>
          <p:nvPr>
            <p:ph idx="1"/>
          </p:nvPr>
        </p:nvSpPr>
        <p:spPr/>
        <p:txBody>
          <a:bodyPr>
            <a:normAutofit/>
          </a:bodyPr>
          <a:lstStyle/>
          <a:p>
            <a:r>
              <a:rPr lang="en-US" dirty="0"/>
              <a:t>Memorial base website for Ido.</a:t>
            </a:r>
          </a:p>
          <a:p>
            <a:r>
              <a:rPr lang="en-US" dirty="0"/>
              <a:t>Patent to scan and identify IDF id cards.</a:t>
            </a:r>
          </a:p>
          <a:p>
            <a:r>
              <a:rPr lang="en-US" dirty="0"/>
              <a:t>Basic locker prototype.</a:t>
            </a:r>
          </a:p>
          <a:p>
            <a:r>
              <a:rPr lang="en-US" dirty="0"/>
              <a:t>Support/sponsorship from WIX.</a:t>
            </a:r>
          </a:p>
          <a:p>
            <a:r>
              <a:rPr lang="en-US" dirty="0"/>
              <a:t>Electrical hardware expertise from Gil (the client).</a:t>
            </a:r>
          </a:p>
          <a:p>
            <a:r>
              <a:rPr lang="en-US" dirty="0"/>
              <a:t>Also provided is the entire hardware necessary.</a:t>
            </a:r>
          </a:p>
        </p:txBody>
      </p:sp>
    </p:spTree>
    <p:extLst>
      <p:ext uri="{BB962C8B-B14F-4D97-AF65-F5344CB8AC3E}">
        <p14:creationId xmlns:p14="http://schemas.microsoft.com/office/powerpoint/2010/main" val="2522909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62BCB-FD45-75F5-3FD6-9E8B900AD88C}"/>
              </a:ext>
            </a:extLst>
          </p:cNvPr>
          <p:cNvSpPr>
            <a:spLocks noGrp="1"/>
          </p:cNvSpPr>
          <p:nvPr>
            <p:ph type="title"/>
          </p:nvPr>
        </p:nvSpPr>
        <p:spPr/>
        <p:txBody>
          <a:bodyPr/>
          <a:lstStyle/>
          <a:p>
            <a:r>
              <a:rPr lang="en-IL" dirty="0">
                <a:solidFill>
                  <a:schemeClr val="accent4"/>
                </a:solidFill>
              </a:rPr>
              <a:t>Project’s Risk </a:t>
            </a:r>
            <a:r>
              <a:rPr lang="en-IL" dirty="0" err="1">
                <a:solidFill>
                  <a:schemeClr val="accent4"/>
                </a:solidFill>
              </a:rPr>
              <a:t>Assesment</a:t>
            </a:r>
            <a:r>
              <a:rPr lang="en-IL" dirty="0">
                <a:solidFill>
                  <a:schemeClr val="accent4"/>
                </a:solidFill>
              </a:rPr>
              <a:t> </a:t>
            </a:r>
            <a:br>
              <a:rPr lang="en-IL" dirty="0">
                <a:solidFill>
                  <a:schemeClr val="accent4"/>
                </a:solidFill>
              </a:rPr>
            </a:br>
            <a:r>
              <a:rPr lang="en-IL" dirty="0">
                <a:solidFill>
                  <a:schemeClr val="accent4"/>
                </a:solidFill>
              </a:rPr>
              <a:t>(and how to overcome)</a:t>
            </a:r>
          </a:p>
        </p:txBody>
      </p:sp>
      <p:graphicFrame>
        <p:nvGraphicFramePr>
          <p:cNvPr id="5" name="Table 5">
            <a:extLst>
              <a:ext uri="{FF2B5EF4-FFF2-40B4-BE49-F238E27FC236}">
                <a16:creationId xmlns:a16="http://schemas.microsoft.com/office/drawing/2014/main" id="{5AD1B856-8CC0-F629-D5B7-1AD4A598A8B2}"/>
              </a:ext>
            </a:extLst>
          </p:cNvPr>
          <p:cNvGraphicFramePr>
            <a:graphicFrameLocks noGrp="1"/>
          </p:cNvGraphicFramePr>
          <p:nvPr>
            <p:ph idx="1"/>
            <p:extLst>
              <p:ext uri="{D42A27DB-BD31-4B8C-83A1-F6EECF244321}">
                <p14:modId xmlns:p14="http://schemas.microsoft.com/office/powerpoint/2010/main" val="1131714797"/>
              </p:ext>
            </p:extLst>
          </p:nvPr>
        </p:nvGraphicFramePr>
        <p:xfrm>
          <a:off x="717885" y="2508032"/>
          <a:ext cx="10515600" cy="2661920"/>
        </p:xfrm>
        <a:graphic>
          <a:graphicData uri="http://schemas.openxmlformats.org/drawingml/2006/table">
            <a:tbl>
              <a:tblPr firstRow="1" bandRow="1">
                <a:tableStyleId>{21E4AEA4-8DFA-4A89-87EB-49C32662AFE0}</a:tableStyleId>
              </a:tblPr>
              <a:tblGrid>
                <a:gridCol w="5257800">
                  <a:extLst>
                    <a:ext uri="{9D8B030D-6E8A-4147-A177-3AD203B41FA5}">
                      <a16:colId xmlns:a16="http://schemas.microsoft.com/office/drawing/2014/main" val="4244167213"/>
                    </a:ext>
                  </a:extLst>
                </a:gridCol>
                <a:gridCol w="5257800">
                  <a:extLst>
                    <a:ext uri="{9D8B030D-6E8A-4147-A177-3AD203B41FA5}">
                      <a16:colId xmlns:a16="http://schemas.microsoft.com/office/drawing/2014/main" val="26083179"/>
                    </a:ext>
                  </a:extLst>
                </a:gridCol>
              </a:tblGrid>
              <a:tr h="370840">
                <a:tc>
                  <a:txBody>
                    <a:bodyPr/>
                    <a:lstStyle/>
                    <a:p>
                      <a:r>
                        <a:rPr lang="en-IL" dirty="0"/>
                        <a:t>Challenge</a:t>
                      </a:r>
                    </a:p>
                  </a:txBody>
                  <a:tcPr/>
                </a:tc>
                <a:tc>
                  <a:txBody>
                    <a:bodyPr/>
                    <a:lstStyle/>
                    <a:p>
                      <a:r>
                        <a:rPr lang="en-IL" dirty="0"/>
                        <a:t>How to overcome?</a:t>
                      </a:r>
                    </a:p>
                  </a:txBody>
                  <a:tcPr/>
                </a:tc>
                <a:extLst>
                  <a:ext uri="{0D108BD9-81ED-4DB2-BD59-A6C34878D82A}">
                    <a16:rowId xmlns:a16="http://schemas.microsoft.com/office/drawing/2014/main" val="3736699948"/>
                  </a:ext>
                </a:extLst>
              </a:tr>
              <a:tr h="370840">
                <a:tc>
                  <a:txBody>
                    <a:bodyPr/>
                    <a:lstStyle/>
                    <a:p>
                      <a:r>
                        <a:rPr lang="en-US" dirty="0"/>
                        <a:t>Integrating our system with microprocessor, sensors &amp; other hardware</a:t>
                      </a:r>
                      <a:endParaRPr lang="en-IL" dirty="0"/>
                    </a:p>
                  </a:txBody>
                  <a:tcPr/>
                </a:tc>
                <a:tc>
                  <a:txBody>
                    <a:bodyPr/>
                    <a:lstStyle/>
                    <a:p>
                      <a:pPr marL="0" algn="r" defTabSz="914400" rtl="1" eaLnBrk="1" latinLnBrk="0" hangingPunct="1"/>
                      <a:r>
                        <a:rPr lang="en-US" dirty="0"/>
                        <a:t>Our client is an Electrical Engineer and will help us handle it</a:t>
                      </a:r>
                      <a:endParaRPr lang="en-IL" dirty="0"/>
                    </a:p>
                  </a:txBody>
                  <a:tcPr/>
                </a:tc>
                <a:extLst>
                  <a:ext uri="{0D108BD9-81ED-4DB2-BD59-A6C34878D82A}">
                    <a16:rowId xmlns:a16="http://schemas.microsoft.com/office/drawing/2014/main" val="33982769"/>
                  </a:ext>
                </a:extLst>
              </a:tr>
              <a:tr h="370840">
                <a:tc>
                  <a:txBody>
                    <a:bodyPr/>
                    <a:lstStyle/>
                    <a:p>
                      <a:r>
                        <a:rPr lang="en-US" dirty="0"/>
                        <a:t>Rigorous Data security since we handle sensitive private info like personal &amp; military ID.</a:t>
                      </a:r>
                      <a:endParaRPr lang="en-IL" dirty="0"/>
                    </a:p>
                  </a:txBody>
                  <a:tcPr/>
                </a:tc>
                <a:tc>
                  <a:txBody>
                    <a:bodyPr/>
                    <a:lstStyle/>
                    <a:p>
                      <a:r>
                        <a:rPr lang="en-US" dirty="0"/>
                        <a:t>VPC, encryption, WAF </a:t>
                      </a:r>
                      <a:r>
                        <a:rPr lang="en-US" dirty="0" err="1"/>
                        <a:t>etc</a:t>
                      </a:r>
                      <a:r>
                        <a:rPr lang="en-US" dirty="0"/>
                        <a:t>…</a:t>
                      </a:r>
                      <a:endParaRPr lang="en-IL" dirty="0"/>
                    </a:p>
                  </a:txBody>
                  <a:tcPr/>
                </a:tc>
                <a:extLst>
                  <a:ext uri="{0D108BD9-81ED-4DB2-BD59-A6C34878D82A}">
                    <a16:rowId xmlns:a16="http://schemas.microsoft.com/office/drawing/2014/main" val="1931031082"/>
                  </a:ext>
                </a:extLst>
              </a:tr>
              <a:tr h="370840">
                <a:tc>
                  <a:txBody>
                    <a:bodyPr/>
                    <a:lstStyle/>
                    <a:p>
                      <a:r>
                        <a:rPr lang="en-US" dirty="0"/>
                        <a:t>Integrating our system into the existing Ido Aviv memorial website.</a:t>
                      </a:r>
                      <a:endParaRPr lang="en-IL" dirty="0"/>
                    </a:p>
                  </a:txBody>
                  <a:tcPr/>
                </a:tc>
                <a:tc>
                  <a:txBody>
                    <a:bodyPr/>
                    <a:lstStyle/>
                    <a:p>
                      <a:r>
                        <a:rPr lang="en-US" dirty="0"/>
                        <a:t>Collaborate with the family &amp; the developer of the website.</a:t>
                      </a:r>
                      <a:endParaRPr lang="en-IL" dirty="0"/>
                    </a:p>
                  </a:txBody>
                  <a:tcPr/>
                </a:tc>
                <a:extLst>
                  <a:ext uri="{0D108BD9-81ED-4DB2-BD59-A6C34878D82A}">
                    <a16:rowId xmlns:a16="http://schemas.microsoft.com/office/drawing/2014/main" val="1566291749"/>
                  </a:ext>
                </a:extLst>
              </a:tr>
              <a:tr h="370840">
                <a:tc>
                  <a:txBody>
                    <a:bodyPr/>
                    <a:lstStyle/>
                    <a:p>
                      <a:endParaRPr lang="en-IL" dirty="0"/>
                    </a:p>
                  </a:txBody>
                  <a:tcPr/>
                </a:tc>
                <a:tc>
                  <a:txBody>
                    <a:bodyPr/>
                    <a:lstStyle/>
                    <a:p>
                      <a:pPr marL="0" algn="r" defTabSz="914400" rtl="1" eaLnBrk="1" latinLnBrk="0" hangingPunct="1"/>
                      <a:endParaRPr lang="en-IL" dirty="0"/>
                    </a:p>
                  </a:txBody>
                  <a:tcPr/>
                </a:tc>
                <a:extLst>
                  <a:ext uri="{0D108BD9-81ED-4DB2-BD59-A6C34878D82A}">
                    <a16:rowId xmlns:a16="http://schemas.microsoft.com/office/drawing/2014/main" val="3879932401"/>
                  </a:ext>
                </a:extLst>
              </a:tr>
            </a:tbl>
          </a:graphicData>
        </a:graphic>
      </p:graphicFrame>
    </p:spTree>
    <p:extLst>
      <p:ext uri="{BB962C8B-B14F-4D97-AF65-F5344CB8AC3E}">
        <p14:creationId xmlns:p14="http://schemas.microsoft.com/office/powerpoint/2010/main" val="345274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DA21-DED9-73A3-F008-1700FC8FC99B}"/>
              </a:ext>
            </a:extLst>
          </p:cNvPr>
          <p:cNvSpPr>
            <a:spLocks noGrp="1"/>
          </p:cNvSpPr>
          <p:nvPr>
            <p:ph type="title"/>
          </p:nvPr>
        </p:nvSpPr>
        <p:spPr/>
        <p:txBody>
          <a:bodyPr/>
          <a:lstStyle/>
          <a:p>
            <a:r>
              <a:rPr lang="en-IL" dirty="0">
                <a:solidFill>
                  <a:schemeClr val="accent4"/>
                </a:solidFill>
              </a:rPr>
              <a:t>User Interface</a:t>
            </a:r>
          </a:p>
        </p:txBody>
      </p:sp>
      <p:sp>
        <p:nvSpPr>
          <p:cNvPr id="3" name="Content Placeholder 2">
            <a:extLst>
              <a:ext uri="{FF2B5EF4-FFF2-40B4-BE49-F238E27FC236}">
                <a16:creationId xmlns:a16="http://schemas.microsoft.com/office/drawing/2014/main" id="{75DF79DE-4292-378D-C672-6E20C193823C}"/>
              </a:ext>
            </a:extLst>
          </p:cNvPr>
          <p:cNvSpPr>
            <a:spLocks noGrp="1"/>
          </p:cNvSpPr>
          <p:nvPr>
            <p:ph idx="1"/>
          </p:nvPr>
        </p:nvSpPr>
        <p:spPr/>
        <p:txBody>
          <a:bodyPr/>
          <a:lstStyle/>
          <a:p>
            <a:r>
              <a:rPr lang="en-US" dirty="0"/>
              <a:t>The system will run under existing WIX website. We will add our system functionality seamlessly under new  tab.</a:t>
            </a:r>
          </a:p>
          <a:p>
            <a:r>
              <a:rPr lang="en-US" dirty="0"/>
              <a:t>The website should allow different functionality to admins and regular users.</a:t>
            </a:r>
          </a:p>
          <a:p>
            <a:r>
              <a:rPr lang="en-US" dirty="0">
                <a:hlinkClick r:id="rId2"/>
              </a:rPr>
              <a:t>Ido Aviv </a:t>
            </a:r>
            <a:r>
              <a:rPr lang="en-US" dirty="0"/>
              <a:t>| </a:t>
            </a:r>
            <a:r>
              <a:rPr lang="en-US" dirty="0">
                <a:hlinkClick r:id="rId3"/>
              </a:rPr>
              <a:t>Surfo</a:t>
            </a:r>
            <a:endParaRPr lang="en-US" dirty="0"/>
          </a:p>
        </p:txBody>
      </p:sp>
    </p:spTree>
    <p:extLst>
      <p:ext uri="{BB962C8B-B14F-4D97-AF65-F5344CB8AC3E}">
        <p14:creationId xmlns:p14="http://schemas.microsoft.com/office/powerpoint/2010/main" val="327745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1146-D1F6-3918-A3A5-E64AD234E6EC}"/>
              </a:ext>
            </a:extLst>
          </p:cNvPr>
          <p:cNvSpPr>
            <a:spLocks noGrp="1"/>
          </p:cNvSpPr>
          <p:nvPr>
            <p:ph type="title"/>
          </p:nvPr>
        </p:nvSpPr>
        <p:spPr/>
        <p:txBody>
          <a:bodyPr/>
          <a:lstStyle/>
          <a:p>
            <a:r>
              <a:rPr lang="en-IL" dirty="0">
                <a:solidFill>
                  <a:schemeClr val="accent4"/>
                </a:solidFill>
              </a:rPr>
              <a:t>Project’s Environments and Langugaes</a:t>
            </a:r>
          </a:p>
        </p:txBody>
      </p:sp>
      <p:sp>
        <p:nvSpPr>
          <p:cNvPr id="3" name="Content Placeholder 2">
            <a:extLst>
              <a:ext uri="{FF2B5EF4-FFF2-40B4-BE49-F238E27FC236}">
                <a16:creationId xmlns:a16="http://schemas.microsoft.com/office/drawing/2014/main" id="{B2174A37-7191-7D6E-AE1C-AA1DA5A3F5D5}"/>
              </a:ext>
            </a:extLst>
          </p:cNvPr>
          <p:cNvSpPr>
            <a:spLocks noGrp="1"/>
          </p:cNvSpPr>
          <p:nvPr>
            <p:ph idx="1"/>
          </p:nvPr>
        </p:nvSpPr>
        <p:spPr>
          <a:xfrm>
            <a:off x="838200" y="1467853"/>
            <a:ext cx="10515600" cy="4709110"/>
          </a:xfrm>
        </p:spPr>
        <p:txBody>
          <a:bodyPr>
            <a:normAutofit fontScale="70000" lnSpcReduction="20000"/>
          </a:bodyPr>
          <a:lstStyle/>
          <a:p>
            <a:pPr marL="0" indent="0">
              <a:buNone/>
            </a:pPr>
            <a:r>
              <a:rPr lang="en-US" dirty="0"/>
              <a:t>For the Backend, we’ll use python3 as the main programming language,</a:t>
            </a:r>
            <a:br>
              <a:rPr lang="en-US" dirty="0"/>
            </a:br>
            <a:r>
              <a:rPr lang="en-US" dirty="0"/>
              <a:t>alongside with frameworks like:</a:t>
            </a:r>
          </a:p>
          <a:p>
            <a:pPr marL="0" indent="0">
              <a:buNone/>
            </a:pPr>
            <a:r>
              <a:rPr lang="en-US" dirty="0" err="1"/>
              <a:t>FastAPI</a:t>
            </a:r>
            <a:r>
              <a:rPr lang="en-US" dirty="0"/>
              <a:t> for web API, </a:t>
            </a:r>
            <a:br>
              <a:rPr lang="en-US" dirty="0"/>
            </a:br>
            <a:r>
              <a:rPr lang="en-US" dirty="0" err="1"/>
              <a:t>SQLAlchemy</a:t>
            </a:r>
            <a:r>
              <a:rPr lang="en-US" dirty="0"/>
              <a:t> for ORM,</a:t>
            </a:r>
            <a:br>
              <a:rPr lang="en-US" dirty="0"/>
            </a:br>
            <a:r>
              <a:rPr lang="en-US" dirty="0" err="1"/>
              <a:t>Pytest</a:t>
            </a:r>
            <a:r>
              <a:rPr lang="en-US" dirty="0"/>
              <a:t> for testing &amp; QA. </a:t>
            </a:r>
          </a:p>
          <a:p>
            <a:pPr marL="0" indent="0">
              <a:buNone/>
            </a:pPr>
            <a:endParaRPr lang="en-US" dirty="0"/>
          </a:p>
          <a:p>
            <a:pPr marL="0" indent="0">
              <a:buNone/>
            </a:pPr>
            <a:r>
              <a:rPr lang="en-US" dirty="0"/>
              <a:t>We plan to host in AWS in a mostly serverless environment, with services like Lambda, Aurora </a:t>
            </a:r>
            <a:r>
              <a:rPr lang="en-US" dirty="0" err="1"/>
              <a:t>serveless</a:t>
            </a:r>
            <a:r>
              <a:rPr lang="en-US" dirty="0"/>
              <a:t> v2, API gateway, S3 and more...</a:t>
            </a:r>
            <a:br>
              <a:rPr lang="en-US" dirty="0"/>
            </a:br>
            <a:br>
              <a:rPr lang="en-US" dirty="0"/>
            </a:br>
            <a:r>
              <a:rPr lang="en-US" dirty="0"/>
              <a:t>For the Frontend, we will be assisted/sponsored by WIX for the project, so the UI will be written in JavaScript.</a:t>
            </a:r>
          </a:p>
          <a:p>
            <a:pPr marL="0" indent="0">
              <a:buNone/>
            </a:pPr>
            <a:endParaRPr lang="en-IL" dirty="0"/>
          </a:p>
          <a:p>
            <a:r>
              <a:rPr lang="en-US" dirty="0"/>
              <a:t>S</a:t>
            </a:r>
            <a:r>
              <a:rPr lang="en-IL" dirty="0"/>
              <a:t>hould you learn? </a:t>
            </a:r>
            <a:r>
              <a:rPr lang="en-US" dirty="0"/>
              <a:t>H</a:t>
            </a:r>
            <a:r>
              <a:rPr lang="en-IL" dirty="0"/>
              <a:t>ow will you learn?</a:t>
            </a:r>
          </a:p>
          <a:p>
            <a:pPr marL="0" indent="0">
              <a:buNone/>
            </a:pPr>
            <a:r>
              <a:rPr lang="en-US" dirty="0"/>
              <a:t>We should. We will use language &amp; service documentations, LLM’s &amp; Educative websites like W3code to learn.</a:t>
            </a:r>
          </a:p>
          <a:p>
            <a:pPr marL="0" indent="0">
              <a:buNone/>
            </a:pPr>
            <a:r>
              <a:rPr lang="en-US" dirty="0"/>
              <a:t>And in regard to hardware related stuff, our client is an Electrical Engineer and will assist us.</a:t>
            </a:r>
            <a:endParaRPr lang="en-IL" dirty="0"/>
          </a:p>
          <a:p>
            <a:pPr marL="0" indent="0">
              <a:buNone/>
            </a:pPr>
            <a:endParaRPr lang="en-IL" dirty="0"/>
          </a:p>
        </p:txBody>
      </p:sp>
    </p:spTree>
    <p:extLst>
      <p:ext uri="{BB962C8B-B14F-4D97-AF65-F5344CB8AC3E}">
        <p14:creationId xmlns:p14="http://schemas.microsoft.com/office/powerpoint/2010/main" val="3544659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1D7CE-8BEF-21BA-0C8A-EB1F7B766A6F}"/>
              </a:ext>
            </a:extLst>
          </p:cNvPr>
          <p:cNvSpPr>
            <a:spLocks noGrp="1"/>
          </p:cNvSpPr>
          <p:nvPr>
            <p:ph type="title"/>
          </p:nvPr>
        </p:nvSpPr>
        <p:spPr/>
        <p:txBody>
          <a:bodyPr/>
          <a:lstStyle/>
          <a:p>
            <a:r>
              <a:rPr lang="en-IL" dirty="0">
                <a:solidFill>
                  <a:schemeClr val="accent4"/>
                </a:solidFill>
              </a:rPr>
              <a:t>Evaluation and Testing Plan</a:t>
            </a:r>
          </a:p>
        </p:txBody>
      </p:sp>
      <p:sp>
        <p:nvSpPr>
          <p:cNvPr id="3" name="Content Placeholder 2">
            <a:extLst>
              <a:ext uri="{FF2B5EF4-FFF2-40B4-BE49-F238E27FC236}">
                <a16:creationId xmlns:a16="http://schemas.microsoft.com/office/drawing/2014/main" id="{D5354B02-1837-6A38-6293-8F1E829B4AF4}"/>
              </a:ext>
            </a:extLst>
          </p:cNvPr>
          <p:cNvSpPr>
            <a:spLocks noGrp="1"/>
          </p:cNvSpPr>
          <p:nvPr>
            <p:ph idx="1"/>
          </p:nvPr>
        </p:nvSpPr>
        <p:spPr/>
        <p:txBody>
          <a:bodyPr/>
          <a:lstStyle/>
          <a:p>
            <a:pPr marL="0" indent="0">
              <a:buNone/>
            </a:pPr>
            <a:r>
              <a:rPr lang="en-GB" dirty="0"/>
              <a:t>We will perform tests at all levels of the software, (unit, integration, acceptance)</a:t>
            </a:r>
          </a:p>
          <a:p>
            <a:pPr marL="0" indent="0">
              <a:buNone/>
            </a:pPr>
            <a:r>
              <a:rPr lang="en-GB" dirty="0"/>
              <a:t>In addition to the software level tests, we have a prototype that will be connected to the system and on which we will perform comprehensive manual acceptance tests. In addition, there is an active cabinet at the surfing club that Gil maintains in the field under real conditions.</a:t>
            </a:r>
            <a:endParaRPr lang="en-US" dirty="0"/>
          </a:p>
        </p:txBody>
      </p:sp>
    </p:spTree>
    <p:extLst>
      <p:ext uri="{BB962C8B-B14F-4D97-AF65-F5344CB8AC3E}">
        <p14:creationId xmlns:p14="http://schemas.microsoft.com/office/powerpoint/2010/main" val="1972198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08A0-98FE-2CB2-3A5F-22034FE526D0}"/>
              </a:ext>
            </a:extLst>
          </p:cNvPr>
          <p:cNvSpPr>
            <a:spLocks noGrp="1"/>
          </p:cNvSpPr>
          <p:nvPr>
            <p:ph type="title"/>
          </p:nvPr>
        </p:nvSpPr>
        <p:spPr/>
        <p:txBody>
          <a:bodyPr/>
          <a:lstStyle/>
          <a:p>
            <a:r>
              <a:rPr lang="en-IL" dirty="0">
                <a:solidFill>
                  <a:schemeClr val="accent4"/>
                </a:solidFill>
              </a:rPr>
              <a:t>Project’s Steps and Timeline</a:t>
            </a:r>
          </a:p>
        </p:txBody>
      </p:sp>
      <p:pic>
        <p:nvPicPr>
          <p:cNvPr id="5" name="Picture 4">
            <a:extLst>
              <a:ext uri="{FF2B5EF4-FFF2-40B4-BE49-F238E27FC236}">
                <a16:creationId xmlns:a16="http://schemas.microsoft.com/office/drawing/2014/main" id="{CBA4C9B3-05CF-6239-F55B-52EB68252193}"/>
              </a:ext>
            </a:extLst>
          </p:cNvPr>
          <p:cNvPicPr>
            <a:picLocks noChangeAspect="1"/>
          </p:cNvPicPr>
          <p:nvPr/>
        </p:nvPicPr>
        <p:blipFill>
          <a:blip r:embed="rId2"/>
          <a:stretch>
            <a:fillRect/>
          </a:stretch>
        </p:blipFill>
        <p:spPr>
          <a:xfrm>
            <a:off x="1309808" y="1456369"/>
            <a:ext cx="8287043" cy="5179402"/>
          </a:xfrm>
          <a:prstGeom prst="rect">
            <a:avLst/>
          </a:prstGeom>
        </p:spPr>
      </p:pic>
      <p:sp>
        <p:nvSpPr>
          <p:cNvPr id="7" name="TextBox 6">
            <a:extLst>
              <a:ext uri="{FF2B5EF4-FFF2-40B4-BE49-F238E27FC236}">
                <a16:creationId xmlns:a16="http://schemas.microsoft.com/office/drawing/2014/main" id="{7C89C0A2-A3F8-CF91-E16E-6C4B128511FB}"/>
              </a:ext>
            </a:extLst>
          </p:cNvPr>
          <p:cNvSpPr txBox="1"/>
          <p:nvPr/>
        </p:nvSpPr>
        <p:spPr>
          <a:xfrm>
            <a:off x="10084526" y="3105027"/>
            <a:ext cx="2107474" cy="1384995"/>
          </a:xfrm>
          <a:prstGeom prst="rect">
            <a:avLst/>
          </a:prstGeom>
          <a:noFill/>
        </p:spPr>
        <p:txBody>
          <a:bodyPr wrap="square">
            <a:spAutoFit/>
          </a:bodyPr>
          <a:lstStyle/>
          <a:p>
            <a:pPr marL="0" indent="0">
              <a:buNone/>
            </a:pPr>
            <a:r>
              <a:rPr lang="en-US" sz="2800" dirty="0">
                <a:hlinkClick r:id="rId3"/>
              </a:rPr>
              <a:t>TimeLine</a:t>
            </a:r>
            <a:endParaRPr lang="en-US" sz="2800" dirty="0"/>
          </a:p>
          <a:p>
            <a:pPr marL="0" indent="0">
              <a:buNone/>
            </a:pPr>
            <a:endParaRPr lang="en-US" sz="2800" dirty="0"/>
          </a:p>
          <a:p>
            <a:pPr marL="0" indent="0">
              <a:buNone/>
            </a:pPr>
            <a:r>
              <a:rPr lang="en-US" sz="2800" dirty="0">
                <a:hlinkClick r:id="rId4"/>
              </a:rPr>
              <a:t>Diagram</a:t>
            </a:r>
            <a:endParaRPr lang="en-US" sz="2800" dirty="0"/>
          </a:p>
        </p:txBody>
      </p:sp>
    </p:spTree>
    <p:extLst>
      <p:ext uri="{BB962C8B-B14F-4D97-AF65-F5344CB8AC3E}">
        <p14:creationId xmlns:p14="http://schemas.microsoft.com/office/powerpoint/2010/main" val="4128900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e6966b5-b9a2-4047-8ad7-6349593315f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מסמך" ma:contentTypeID="0x0101009B09D47D9E93A4429F0CD6A06BF73F25" ma:contentTypeVersion="8" ma:contentTypeDescription="צור מסמך חדש." ma:contentTypeScope="" ma:versionID="ba14a7f5b7b94287a0db04fad42384ba">
  <xsd:schema xmlns:xsd="http://www.w3.org/2001/XMLSchema" xmlns:xs="http://www.w3.org/2001/XMLSchema" xmlns:p="http://schemas.microsoft.com/office/2006/metadata/properties" xmlns:ns3="ce6966b5-b9a2-4047-8ad7-6349593315f9" xmlns:ns4="594791ce-020e-4729-8bdd-6fb9560a4b17" targetNamespace="http://schemas.microsoft.com/office/2006/metadata/properties" ma:root="true" ma:fieldsID="98ba0fa4edd1bc54c59f13e0ce37c46c" ns3:_="" ns4:_="">
    <xsd:import namespace="ce6966b5-b9a2-4047-8ad7-6349593315f9"/>
    <xsd:import namespace="594791ce-020e-4729-8bdd-6fb9560a4b1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6966b5-b9a2-4047-8ad7-634959331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94791ce-020e-4729-8bdd-6fb9560a4b17" elementFormDefault="qualified">
    <xsd:import namespace="http://schemas.microsoft.com/office/2006/documentManagement/types"/>
    <xsd:import namespace="http://schemas.microsoft.com/office/infopath/2007/PartnerControls"/>
    <xsd:element name="SharedWithUsers" ma:index="12" nillable="true" ma:displayName="משותף עם"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משותף עם פרטים" ma:internalName="SharedWithDetails" ma:readOnly="true">
      <xsd:simpleType>
        <xsd:restriction base="dms:Note">
          <xsd:maxLength value="255"/>
        </xsd:restriction>
      </xsd:simpleType>
    </xsd:element>
    <xsd:element name="SharingHintHash" ma:index="14" nillable="true" ma:displayName="Hash של רמז לשיתוף"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25D58D-F321-4831-AECD-29C9810E6559}">
  <ds:schemaRefs>
    <ds:schemaRef ds:uri="http://schemas.microsoft.com/sharepoint/v3/contenttype/forms"/>
  </ds:schemaRefs>
</ds:datastoreItem>
</file>

<file path=customXml/itemProps2.xml><?xml version="1.0" encoding="utf-8"?>
<ds:datastoreItem xmlns:ds="http://schemas.openxmlformats.org/officeDocument/2006/customXml" ds:itemID="{125FA8D5-1AAF-4F99-BB9A-04B28B14271C}">
  <ds:schemaRefs>
    <ds:schemaRef ds:uri="http://www.w3.org/XML/1998/namespace"/>
    <ds:schemaRef ds:uri="http://schemas.openxmlformats.org/package/2006/metadata/core-properties"/>
    <ds:schemaRef ds:uri="http://purl.org/dc/elements/1.1/"/>
    <ds:schemaRef ds:uri="http://schemas.microsoft.com/office/2006/documentManagement/types"/>
    <ds:schemaRef ds:uri="http://purl.org/dc/terms/"/>
    <ds:schemaRef ds:uri="http://schemas.microsoft.com/office/2006/metadata/properties"/>
    <ds:schemaRef ds:uri="http://schemas.microsoft.com/office/infopath/2007/PartnerControls"/>
    <ds:schemaRef ds:uri="594791ce-020e-4729-8bdd-6fb9560a4b17"/>
    <ds:schemaRef ds:uri="ce6966b5-b9a2-4047-8ad7-6349593315f9"/>
    <ds:schemaRef ds:uri="http://purl.org/dc/dcmitype/"/>
  </ds:schemaRefs>
</ds:datastoreItem>
</file>

<file path=customXml/itemProps3.xml><?xml version="1.0" encoding="utf-8"?>
<ds:datastoreItem xmlns:ds="http://schemas.openxmlformats.org/officeDocument/2006/customXml" ds:itemID="{FC275F49-6D25-4493-8723-549AA48F4A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6966b5-b9a2-4047-8ad7-6349593315f9"/>
    <ds:schemaRef ds:uri="594791ce-020e-4729-8bdd-6fb9560a4b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5280</TotalTime>
  <Words>1111</Words>
  <Application>Microsoft Office PowerPoint</Application>
  <PresentationFormat>Widescreen</PresentationFormat>
  <Paragraphs>88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Ido Aviv Memorial- Free surfboard for each soldier  Ofek Yabo, Dolev David, Segev Olpak, Guy Yehoshua</vt:lpstr>
      <vt:lpstr>Project Title </vt:lpstr>
      <vt:lpstr>Customer</vt:lpstr>
      <vt:lpstr>Introduction</vt:lpstr>
      <vt:lpstr>Project’s Motivation and Purpose</vt:lpstr>
      <vt:lpstr>Project Description</vt:lpstr>
      <vt:lpstr>Customer – what exists? What provides?</vt:lpstr>
      <vt:lpstr>Project’s Risk Assesment  (and how to overcome)</vt:lpstr>
      <vt:lpstr>User Interface</vt:lpstr>
      <vt:lpstr>Project’s Environments and Langugaes</vt:lpstr>
      <vt:lpstr>Evaluation and Testing Plan</vt:lpstr>
      <vt:lpstr>Project’s Steps and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רוברט מושקוביץ'</dc:creator>
  <cp:lastModifiedBy>אופק יאבו</cp:lastModifiedBy>
  <cp:revision>10</cp:revision>
  <dcterms:created xsi:type="dcterms:W3CDTF">2023-06-18T12:05:44Z</dcterms:created>
  <dcterms:modified xsi:type="dcterms:W3CDTF">2025-10-09T08:11:33Z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0x0101009B09D47D9E93A4429F0CD6A06BF73F25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